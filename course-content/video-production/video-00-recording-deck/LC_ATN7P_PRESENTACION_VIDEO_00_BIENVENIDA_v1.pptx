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8bc94417224f8d" /><Relationship Type="http://schemas.openxmlformats.org/officeDocument/2006/relationships/extended-properties" Target="/docProps/app.xml" Id="Rb0ca9deb3ade432f" /><Relationship Type="http://schemas.openxmlformats.org/officeDocument/2006/relationships/officeDocument" Target="/ppt/presentation.xml" Id="Rccc6f38788cc45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6e6fdbf9584011"/>
  </p:sldMasterIdLst>
  <p:notesMasterIdLst>
    <p:notesMasterId xmlns:r="http://schemas.openxmlformats.org/officeDocument/2006/relationships" r:id="R8f6365c2e4cb44a5"/>
  </p:notesMasterIdLst>
  <p:sldIdLst>
    <p:sldId xmlns:r="http://schemas.openxmlformats.org/officeDocument/2006/relationships" id="256" r:id="R2658f6f5ed0d473b"/>
    <p:sldId xmlns:r="http://schemas.openxmlformats.org/officeDocument/2006/relationships" id="257" r:id="R7b64f25c4f924cc2"/>
    <p:sldId xmlns:r="http://schemas.openxmlformats.org/officeDocument/2006/relationships" id="258" r:id="R48bc5326a9ea4093"/>
    <p:sldId xmlns:r="http://schemas.openxmlformats.org/officeDocument/2006/relationships" id="259" r:id="R6796f23fe06f414d"/>
    <p:sldId xmlns:r="http://schemas.openxmlformats.org/officeDocument/2006/relationships" id="260" r:id="Rd5a39165cc374f4b"/>
    <p:sldId xmlns:r="http://schemas.openxmlformats.org/officeDocument/2006/relationships" id="261" r:id="R1350606b0769436e"/>
    <p:sldId xmlns:r="http://schemas.openxmlformats.org/officeDocument/2006/relationships" id="262" r:id="R11c1f0548df146e3"/>
    <p:sldId xmlns:r="http://schemas.openxmlformats.org/officeDocument/2006/relationships" id="263" r:id="Recb89d276fcd43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2b1cbbb4c34dcb" /><Relationship Type="http://schemas.openxmlformats.org/officeDocument/2006/relationships/slideMaster" Target="/ppt/slideMasters/slideMaster1.xml" Id="Re16e6fdbf9584011" /><Relationship Type="http://schemas.openxmlformats.org/officeDocument/2006/relationships/notesMaster" Target="/ppt/notesMasters/notesMaster1.xml" Id="R8f6365c2e4cb44a5" /><Relationship Type="http://schemas.openxmlformats.org/officeDocument/2006/relationships/presProps" Target="/ppt/presProps.xml" Id="Rf2a6f6d005014410" /><Relationship Type="http://schemas.openxmlformats.org/officeDocument/2006/relationships/tableStyles" Target="/ppt/tableStyles.xml" Id="R8205c8cb81714a42" /><Relationship Type="http://schemas.openxmlformats.org/officeDocument/2006/relationships/slide" Target="/ppt/slides/slide1.xml" Id="R2658f6f5ed0d473b" /><Relationship Type="http://schemas.openxmlformats.org/officeDocument/2006/relationships/slide" Target="/ppt/slides/slide2.xml" Id="R7b64f25c4f924cc2" /><Relationship Type="http://schemas.openxmlformats.org/officeDocument/2006/relationships/slide" Target="/ppt/slides/slide3.xml" Id="R48bc5326a9ea4093" /><Relationship Type="http://schemas.openxmlformats.org/officeDocument/2006/relationships/slide" Target="/ppt/slides/slide4.xml" Id="R6796f23fe06f414d" /><Relationship Type="http://schemas.openxmlformats.org/officeDocument/2006/relationships/slide" Target="/ppt/slides/slide5.xml" Id="Rd5a39165cc374f4b" /><Relationship Type="http://schemas.openxmlformats.org/officeDocument/2006/relationships/slide" Target="/ppt/slides/slide6.xml" Id="R1350606b0769436e" /><Relationship Type="http://schemas.openxmlformats.org/officeDocument/2006/relationships/slide" Target="/ppt/slides/slide7.xml" Id="R11c1f0548df146e3" /><Relationship Type="http://schemas.openxmlformats.org/officeDocument/2006/relationships/slide" Target="/ppt/slides/slide8.xml" Id="Recb89d276fcd43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316da0ab254c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b68496e6ac4bb8" /><Relationship Type="http://schemas.openxmlformats.org/officeDocument/2006/relationships/notesMaster" Target="/ppt/notesMasters/notesMaster1.xml" Id="Ra7996a45758142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b080bec88749c1" /><Relationship Type="http://schemas.openxmlformats.org/officeDocument/2006/relationships/notesMaster" Target="/ppt/notesMasters/notesMaster1.xml" Id="Rded488b2796146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4a669502d5460b" /><Relationship Type="http://schemas.openxmlformats.org/officeDocument/2006/relationships/notesMaster" Target="/ppt/notesMasters/notesMaster1.xml" Id="R3d3ee52970ff44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1a4f9f37f242bb" /><Relationship Type="http://schemas.openxmlformats.org/officeDocument/2006/relationships/notesMaster" Target="/ppt/notesMasters/notesMaster1.xml" Id="R0c3caa00124f4f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392f9b45014272" /><Relationship Type="http://schemas.openxmlformats.org/officeDocument/2006/relationships/notesMaster" Target="/ppt/notesMasters/notesMaster1.xml" Id="R91615ca399e844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469116610b4916" /><Relationship Type="http://schemas.openxmlformats.org/officeDocument/2006/relationships/notesMaster" Target="/ppt/notesMasters/notesMaster1.xml" Id="R6fdcaf835c144c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20e29b88374d72" /><Relationship Type="http://schemas.openxmlformats.org/officeDocument/2006/relationships/notesMaster" Target="/ppt/notesMasters/notesMaster1.xml" Id="Ra32b2ab498c346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27eb0eca8a4d03" /><Relationship Type="http://schemas.openxmlformats.org/officeDocument/2006/relationships/notesMaster" Target="/ppt/notesMasters/notesMaster1.xml" Id="R400a2cae62d64e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00:00–00:35. Hola, te doy la bienvenida a Automatiza tu Negocio en 7 Pasos. Este programa fue creado para ayudarte a transformar una tarea repetitiva de tu negocio en un proceso más claro, medible y preparado para automatizarse. No necesitas saber programar ni comenzar comprando nuevas herramientas. Lo más importante es entender qué haces hoy, dónde se pierde tiempo y qué resultado quieres mejorar.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00:35–01:20. Durante el curso trabajarás sobre un solo proceso real. Puede ser el registro de consultas, el seguimiento de clientes, la agenda, el envío de información o la preparación de documentos. Primero vas a observar y ordenar ese proceso. Después crearás una base de seguimiento, explorarás usos concretos de inteligencia artificial y diseñarás un flujo básico. Finalmente, probarás una versión mínima y definirás cómo medirla y mejorarla. La meta es terminar con una primera solución entendible, verificable y que puedas seguir desarrollando con criterio.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Elige una tarea que conozcas y que se repita varias veces por semana o por mes. Debe tener un inicio y un resultado reconocibles. La selección inicial puede cambiar. En el primer módulo compararás varias tareas y priorizarás una según frecuencia, tiempo, impacto, riesgo de error y esfuerzo.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01:20–03:05. En el Paso 1 identificarás tareas repetitivas y elegirás una oportunidad. En el Paso 2 ordenarás contactos, etapas y próximos pasos usando registros ficticios. En el Paso 3 crearás prompts para una necesidad real y definirás la revisión humana. En el Paso 4 representarás un flujo con disparador, entrada, validación, acción, salida y manejo de errores. En el Paso 5 diseñarás el recorrido desde que llega una consulta hasta la siguiente acción. En el Paso 6 definirás una versión mínima demostrable. En el Paso 7 completarás pruebas finales, compararás el antes y el después y construirás un roadmap de treinta días.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03:05–04:15. El workbook será tu hilo conductor. Comienza en la hoja Ruta. Completa tu nombre, el negocio o proyecto, el proceso que quieres trabajar y el resultado esperado. Después avanza por las pestañas del uno al siete. Cada módulo incluye una evidencia mínima y un estado. Cambia un módulo a completado solo cuando tengas una evidencia que otra persona pueda revisar. Guarda siempre una copia del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04:15–05:20. Antes de comenzar, recuerda estas cinco reglas. Documenta el proceso manual antes de automatizarlo. Prueba con datos ficticios. Mantén una salida humana para dudas y excepciones. Haz cambios pequeños y reversibles. Mide antes de concluir. No prometas ahorro ni mejoras sin comparar el proceso anterior con el nuevo. Automatizar significa reservar el criterio humano para decisiones, relaciones y excepciones.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05:20–06:20. Abre el workbook y escribe una tarea que realices varias veces por semana o por mes. Describe quién la inicia, qué información necesita y qué resultado debería producir. Luego responde qué parte consume más tiempo, dónde aparecen errores o retrasos y qué decisión requiere realmente una persona. No elijas todavía una herramienta. Cuando completes la ficha inicial, cambia el estado del Paso 1 a En curso.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06:20–06:45. Ya tienes el punto de partida: un proceso, un resultado esperado y una ruta para avanzar con seguridad. Ahora abre el Paso 1, Diagnóstico y priorización. Antes de automatizar, vamos a elegir correctamente qué vale la pena mejorar. Comencemos.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49b1c9b6d4c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cd2eeaac842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799537bbd49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4d71cd4754d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6841c34c54b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7f40f16ef40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97793D-8B59-4740-B5BE-1708697C76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DAAA7C-A154-4254-ABC5-5A3F610EAF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956153-D6C4-4E7A-BA66-1C73F1DD8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33E624-9583-4AF8-AF7C-3185D49029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5FE1D3-DFE8-44CA-B472-A78C364C0F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4B8BAA-DBDF-4A41-B750-12006D4647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7E76AD-C83F-4DD9-81BB-CF0290A021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199B119-98AC-4C07-B5FB-A4350E5FE4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897186-6541-4C18-B156-E40B592447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6FC6AB-D019-4106-9248-31F93265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02694525e24a4c" /><Relationship Type="http://schemas.openxmlformats.org/officeDocument/2006/relationships/slideLayout" Target="/ppt/slideLayouts/slideLayout1.xml" Id="R36884c159cf647b0" /><Relationship Type="http://schemas.openxmlformats.org/officeDocument/2006/relationships/slideLayout" Target="/ppt/slideLayouts/slideLayout2.xml" Id="Rcc8bf63f71394e84" /><Relationship Type="http://schemas.openxmlformats.org/officeDocument/2006/relationships/slideLayout" Target="/ppt/slideLayouts/slideLayout3.xml" Id="R5ee565f0600f499a" /><Relationship Type="http://schemas.openxmlformats.org/officeDocument/2006/relationships/slideLayout" Target="/ppt/slideLayouts/slideLayout4.xml" Id="Rd7faf52ad8dc4e24" /><Relationship Type="http://schemas.openxmlformats.org/officeDocument/2006/relationships/slideLayout" Target="/ppt/slideLayouts/slideLayout5.xml" Id="R9549946dab974385" /><Relationship Type="http://schemas.openxmlformats.org/officeDocument/2006/relationships/slideLayout" Target="/ppt/slideLayouts/slideLayout6.xml" Id="Radd83601a48949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884c159cf647b0"/>
    <p:sldLayoutId xmlns:r="http://schemas.openxmlformats.org/officeDocument/2006/relationships" id="2147483650" r:id="Rcc8bf63f71394e84"/>
    <p:sldLayoutId xmlns:r="http://schemas.openxmlformats.org/officeDocument/2006/relationships" id="2147483651" r:id="R5ee565f0600f499a"/>
    <p:sldLayoutId xmlns:r="http://schemas.openxmlformats.org/officeDocument/2006/relationships" id="2147483652" r:id="Rd7faf52ad8dc4e24"/>
    <p:sldLayoutId xmlns:r="http://schemas.openxmlformats.org/officeDocument/2006/relationships" id="2147483653" r:id="R9549946dab974385"/>
    <p:sldLayoutId xmlns:r="http://schemas.openxmlformats.org/officeDocument/2006/relationships" id="2147483654" r:id="Radd83601a48949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250b2370374c1c" /><Relationship Type="http://schemas.openxmlformats.org/officeDocument/2006/relationships/notesSlide" Target="/ppt/notesSlides/notesSlide1.xml" Id="R4a5afadd5a984d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cefa2f5aba49e9" /><Relationship Type="http://schemas.openxmlformats.org/officeDocument/2006/relationships/notesSlide" Target="/ppt/notesSlides/notesSlide2.xml" Id="Ra431e72f264747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0cb8ce05a4340" /><Relationship Type="http://schemas.openxmlformats.org/officeDocument/2006/relationships/notesSlide" Target="/ppt/notesSlides/notesSlide3.xml" Id="Rfe1ea9e723f14b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3c3b5754f4e42" /><Relationship Type="http://schemas.openxmlformats.org/officeDocument/2006/relationships/notesSlide" Target="/ppt/notesSlides/notesSlide4.xml" Id="R6f5752906d4e46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181c0cec704167" /><Relationship Type="http://schemas.openxmlformats.org/officeDocument/2006/relationships/notesSlide" Target="/ppt/notesSlides/notesSlide5.xml" Id="Reb0c42d1126841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25690bc2114fac" /><Relationship Type="http://schemas.openxmlformats.org/officeDocument/2006/relationships/notesSlide" Target="/ppt/notesSlides/notesSlide6.xml" Id="R2fec96111a1b4d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12b2e3aafa4c8f" /><Relationship Type="http://schemas.openxmlformats.org/officeDocument/2006/relationships/notesSlide" Target="/ppt/notesSlides/notesSlide7.xml" Id="R808fd169889e45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9d23f675684798" /><Relationship Type="http://schemas.openxmlformats.org/officeDocument/2006/relationships/notesSlide" Target="/ppt/notesSlides/notesSlide8.xml" Id="R50dddd35182748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3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cyan-band">
            <a:extLst xmlns:a="http://schemas.openxmlformats.org/drawingml/2006/main">
              <a:ext uri="{FF2B5EF4-FFF2-40B4-BE49-F238E27FC236}">
                <a16:creationId xmlns:a16="http://schemas.microsoft.com/office/drawing/2014/main" id="{765213F5-DAF0-4B1A-8593-475D697F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931F7260-FC90-49F0-88E2-3D8D17A5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57150">
            <a:solidFill>
              <a:srgbClr val="19A7CE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CDA5219F-14C6-4A05-A6DE-F70D6C34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" name="cover-dot">
            <a:extLst xmlns:a="http://schemas.openxmlformats.org/drawingml/2006/main">
              <a:ext uri="{FF2B5EF4-FFF2-40B4-BE49-F238E27FC236}">
                <a16:creationId xmlns:a16="http://schemas.microsoft.com/office/drawing/2014/main" id="{2AECB92D-E164-4167-8DBA-B4CDA12A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brand">
            <a:extLst xmlns:a="http://schemas.openxmlformats.org/drawingml/2006/main">
              <a:ext uri="{FF2B5EF4-FFF2-40B4-BE49-F238E27FC236}">
                <a16:creationId xmlns:a16="http://schemas.microsoft.com/office/drawing/2014/main" id="{FB3909A0-F125-48B3-86C5-AAC9E010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LANGUAGE CENTER CHILE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81258E0-E929-4E73-B965-87ED693F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3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3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3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3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3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3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3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3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3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Automatiza tu Negocio</a:t>
            </a:r>
          </a:p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en 7 Pasos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53F347F-93AC-40C9-B2F1-BC882DA1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EAF4F8"/>
                </a:solidFill>
                <a:latin typeface="Aptos"/>
                <a:ea typeface="Aptos"/>
                <a:cs typeface="Aptos"/>
              </a:rPr>
              <a:t>Bienvenida y ruta del programa</a:t>
            </a:r>
          </a:p>
        </p:txBody>
      </p:sp>
      <p:sp>
        <p:nvSpPr>
          <p:cNvPr id="8" name="cover-rule">
            <a:extLst xmlns:a="http://schemas.openxmlformats.org/drawingml/2006/main">
              <a:ext uri="{FF2B5EF4-FFF2-40B4-BE49-F238E27FC236}">
                <a16:creationId xmlns:a16="http://schemas.microsoft.com/office/drawing/2014/main" id="{DD102799-AA9E-4685-8CC8-B0F583EA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meta">
            <a:extLst xmlns:a="http://schemas.openxmlformats.org/drawingml/2006/main">
              <a:ext uri="{FF2B5EF4-FFF2-40B4-BE49-F238E27FC236}">
                <a16:creationId xmlns:a16="http://schemas.microsoft.com/office/drawing/2014/main" id="{DEB8AFCD-4A28-42A6-8E1F-92BB39F4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Video 00  ·  Presentación grabable  ·  v1</a:t>
            </a:r>
          </a:p>
        </p:txBody>
      </p:sp>
    </p:spTree>
    <p:extLst>
      <p:ext uri="{BB962C8B-B14F-4D97-AF65-F5344CB8AC3E}">
        <p14:creationId xmlns:p14="http://schemas.microsoft.com/office/powerpoint/2010/main" val="5305754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2">
            <a:extLst xmlns:a="http://schemas.openxmlformats.org/drawingml/2006/main">
              <a:ext uri="{FF2B5EF4-FFF2-40B4-BE49-F238E27FC236}">
                <a16:creationId xmlns:a16="http://schemas.microsoft.com/office/drawing/2014/main" id="{EED9828B-370E-414D-A584-4E4C05A8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Evolución de una tarea repetitiva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7380CDA3-4489-4E18-9B74-8DCABD0A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ransform-0">
            <a:extLst xmlns:a="http://schemas.openxmlformats.org/drawingml/2006/main">
              <a:ext uri="{FF2B5EF4-FFF2-40B4-BE49-F238E27FC236}">
                <a16:creationId xmlns:a16="http://schemas.microsoft.com/office/drawing/2014/main" id="{C2D3A74E-5819-4F04-9C19-3D2BAC1A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28575">
            <a:solidFill>
              <a:srgbClr val="003366"/>
            </a:solidFill>
            <a:prstDash val="solid"/>
          </a:ln>
        </p:spPr>
      </p:sp>
      <p:sp>
        <p:nvSpPr>
          <p:cNvPr id="4" name="transform-num-0">
            <a:extLst xmlns:a="http://schemas.openxmlformats.org/drawingml/2006/main">
              <a:ext uri="{FF2B5EF4-FFF2-40B4-BE49-F238E27FC236}">
                <a16:creationId xmlns:a16="http://schemas.microsoft.com/office/drawing/2014/main" id="{EBB384B1-F350-417F-AED2-47206AE6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transform-label-0">
            <a:extLst xmlns:a="http://schemas.openxmlformats.org/drawingml/2006/main">
              <a:ext uri="{FF2B5EF4-FFF2-40B4-BE49-F238E27FC236}">
                <a16:creationId xmlns:a16="http://schemas.microsoft.com/office/drawing/2014/main" id="{899BEEB5-1884-406F-A896-30BA7688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714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Tarea manual</a:t>
            </a:r>
          </a:p>
        </p:txBody>
      </p:sp>
      <p:sp>
        <p:nvSpPr>
          <p:cNvPr id="6" name="transform-desc-0">
            <a:extLst xmlns:a="http://schemas.openxmlformats.org/drawingml/2006/main">
              <a:ext uri="{FF2B5EF4-FFF2-40B4-BE49-F238E27FC236}">
                <a16:creationId xmlns:a16="http://schemas.microsoft.com/office/drawing/2014/main" id="{62F16556-D663-46CA-90CF-13D94807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7195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defPPr>
            <a:lvl1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1pPr>
            <a:lvl2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2pPr>
            <a:lvl3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3pPr>
            <a:lvl4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4pPr>
            <a:lvl5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5pPr>
            <a:lvl6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6pPr>
            <a:lvl7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7pPr>
            <a:lvl8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8pPr>
            <a:lvl9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26B7F"/>
                </a:solidFill>
                <a:latin typeface="Aptos"/>
                <a:ea typeface="Aptos"/>
                <a:cs typeface="Aptos"/>
              </a:rPr>
              <a:t>Observa lo que ocurre hoy</a:t>
            </a:r>
          </a:p>
        </p:txBody>
      </p:sp>
      <p:sp>
        <p:nvSpPr>
          <p:cNvPr id="7" name="transform-line-0">
            <a:extLst xmlns:a="http://schemas.openxmlformats.org/drawingml/2006/main">
              <a:ext uri="{FF2B5EF4-FFF2-40B4-BE49-F238E27FC236}">
                <a16:creationId xmlns:a16="http://schemas.microsoft.com/office/drawing/2014/main" id="{A62FEEE5-A799-44D3-B8BF-CD087BA2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908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ransform-1">
            <a:extLst xmlns:a="http://schemas.openxmlformats.org/drawingml/2006/main">
              <a:ext uri="{FF2B5EF4-FFF2-40B4-BE49-F238E27FC236}">
                <a16:creationId xmlns:a16="http://schemas.microsoft.com/office/drawing/2014/main" id="{C79C08AD-E39D-478F-A6B6-16AD7459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28575">
            <a:solidFill>
              <a:srgbClr val="19A7CE"/>
            </a:solidFill>
            <a:prstDash val="solid"/>
          </a:ln>
        </p:spPr>
      </p:sp>
      <p:sp>
        <p:nvSpPr>
          <p:cNvPr id="9" name="transform-num-1">
            <a:extLst xmlns:a="http://schemas.openxmlformats.org/drawingml/2006/main">
              <a:ext uri="{FF2B5EF4-FFF2-40B4-BE49-F238E27FC236}">
                <a16:creationId xmlns:a16="http://schemas.microsoft.com/office/drawing/2014/main" id="{65091748-7B09-4D63-A3E7-DE5866E6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transform-label-1">
            <a:extLst xmlns:a="http://schemas.openxmlformats.org/drawingml/2006/main">
              <a:ext uri="{FF2B5EF4-FFF2-40B4-BE49-F238E27FC236}">
                <a16:creationId xmlns:a16="http://schemas.microsoft.com/office/drawing/2014/main" id="{CF8E6420-26A8-410E-96D5-BA8B28C7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714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Proceso documentado</a:t>
            </a:r>
          </a:p>
        </p:txBody>
      </p:sp>
      <p:sp>
        <p:nvSpPr>
          <p:cNvPr id="11" name="transform-desc-1">
            <a:extLst xmlns:a="http://schemas.openxmlformats.org/drawingml/2006/main">
              <a:ext uri="{FF2B5EF4-FFF2-40B4-BE49-F238E27FC236}">
                <a16:creationId xmlns:a16="http://schemas.microsoft.com/office/drawing/2014/main" id="{A26A094A-532F-4BFB-929D-D7BC4ADE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defPPr>
            <a:lvl1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1pPr>
            <a:lvl2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2pPr>
            <a:lvl3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3pPr>
            <a:lvl4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4pPr>
            <a:lvl5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5pPr>
            <a:lvl6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6pPr>
            <a:lvl7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7pPr>
            <a:lvl8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8pPr>
            <a:lvl9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26B7F"/>
                </a:solidFill>
                <a:latin typeface="Aptos"/>
                <a:ea typeface="Aptos"/>
                <a:cs typeface="Aptos"/>
              </a:rPr>
              <a:t>Aclara entradas, pasos y salida</a:t>
            </a:r>
          </a:p>
        </p:txBody>
      </p:sp>
      <p:sp>
        <p:nvSpPr>
          <p:cNvPr id="12" name="transform-line-1">
            <a:extLst xmlns:a="http://schemas.openxmlformats.org/drawingml/2006/main">
              <a:ext uri="{FF2B5EF4-FFF2-40B4-BE49-F238E27FC236}">
                <a16:creationId xmlns:a16="http://schemas.microsoft.com/office/drawing/2014/main" id="{2228AE10-9D3F-45D8-A13B-9CA43B23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ansform-2">
            <a:extLst xmlns:a="http://schemas.openxmlformats.org/drawingml/2006/main">
              <a:ext uri="{FF2B5EF4-FFF2-40B4-BE49-F238E27FC236}">
                <a16:creationId xmlns:a16="http://schemas.microsoft.com/office/drawing/2014/main" id="{4CEC5CB6-71C1-4E76-8E20-7A86C270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28575">
            <a:solidFill>
              <a:srgbClr val="19A7CE"/>
            </a:solidFill>
            <a:prstDash val="solid"/>
          </a:ln>
        </p:spPr>
      </p:sp>
      <p:sp>
        <p:nvSpPr>
          <p:cNvPr id="14" name="transform-num-2">
            <a:extLst xmlns:a="http://schemas.openxmlformats.org/drawingml/2006/main">
              <a:ext uri="{FF2B5EF4-FFF2-40B4-BE49-F238E27FC236}">
                <a16:creationId xmlns:a16="http://schemas.microsoft.com/office/drawing/2014/main" id="{DCA724D1-2DEB-4AD8-849F-EA7D5287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transform-label-2">
            <a:extLst xmlns:a="http://schemas.openxmlformats.org/drawingml/2006/main">
              <a:ext uri="{FF2B5EF4-FFF2-40B4-BE49-F238E27FC236}">
                <a16:creationId xmlns:a16="http://schemas.microsoft.com/office/drawing/2014/main" id="{129CC49C-B058-417C-9805-547608CB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714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Flujo probado</a:t>
            </a:r>
          </a:p>
        </p:txBody>
      </p:sp>
      <p:sp>
        <p:nvSpPr>
          <p:cNvPr id="16" name="transform-desc-2">
            <a:extLst xmlns:a="http://schemas.openxmlformats.org/drawingml/2006/main">
              <a:ext uri="{FF2B5EF4-FFF2-40B4-BE49-F238E27FC236}">
                <a16:creationId xmlns:a16="http://schemas.microsoft.com/office/drawing/2014/main" id="{A23AE6C8-0B81-4F36-AE40-17CD839E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7195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defPPr>
            <a:lvl1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1pPr>
            <a:lvl2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2pPr>
            <a:lvl3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3pPr>
            <a:lvl4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4pPr>
            <a:lvl5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5pPr>
            <a:lvl6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6pPr>
            <a:lvl7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7pPr>
            <a:lvl8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8pPr>
            <a:lvl9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26B7F"/>
                </a:solidFill>
                <a:latin typeface="Aptos"/>
                <a:ea typeface="Aptos"/>
                <a:cs typeface="Aptos"/>
              </a:rPr>
              <a:t>Ensaya con datos ficticios</a:t>
            </a:r>
          </a:p>
        </p:txBody>
      </p:sp>
      <p:sp>
        <p:nvSpPr>
          <p:cNvPr id="17" name="transform-line-2">
            <a:extLst xmlns:a="http://schemas.openxmlformats.org/drawingml/2006/main">
              <a:ext uri="{FF2B5EF4-FFF2-40B4-BE49-F238E27FC236}">
                <a16:creationId xmlns:a16="http://schemas.microsoft.com/office/drawing/2014/main" id="{C9FEF337-EC04-4932-B952-AD2EBAD9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908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ransform-3">
            <a:extLst xmlns:a="http://schemas.openxmlformats.org/drawingml/2006/main">
              <a:ext uri="{FF2B5EF4-FFF2-40B4-BE49-F238E27FC236}">
                <a16:creationId xmlns:a16="http://schemas.microsoft.com/office/drawing/2014/main" id="{AEB881EC-1A46-47D9-9581-D7701B0C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28575">
            <a:solidFill>
              <a:srgbClr val="19A7CE"/>
            </a:solidFill>
            <a:prstDash val="solid"/>
          </a:ln>
        </p:spPr>
      </p:sp>
      <p:sp>
        <p:nvSpPr>
          <p:cNvPr id="19" name="transform-num-3">
            <a:extLst xmlns:a="http://schemas.openxmlformats.org/drawingml/2006/main">
              <a:ext uri="{FF2B5EF4-FFF2-40B4-BE49-F238E27FC236}">
                <a16:creationId xmlns:a16="http://schemas.microsoft.com/office/drawing/2014/main" id="{93763225-14B0-487E-801D-56C78ED7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transform-label-3">
            <a:extLst xmlns:a="http://schemas.openxmlformats.org/drawingml/2006/main">
              <a:ext uri="{FF2B5EF4-FFF2-40B4-BE49-F238E27FC236}">
                <a16:creationId xmlns:a16="http://schemas.microsoft.com/office/drawing/2014/main" id="{506934CA-8DB1-4546-95B3-DB4B0FF2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14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Resultado medido</a:t>
            </a:r>
          </a:p>
        </p:txBody>
      </p:sp>
      <p:sp>
        <p:nvSpPr>
          <p:cNvPr id="21" name="transform-desc-3">
            <a:extLst xmlns:a="http://schemas.openxmlformats.org/drawingml/2006/main">
              <a:ext uri="{FF2B5EF4-FFF2-40B4-BE49-F238E27FC236}">
                <a16:creationId xmlns:a16="http://schemas.microsoft.com/office/drawing/2014/main" id="{9D7361B4-5DA5-45AB-A8D8-907F36EA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defPPr>
            <a:lvl1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1pPr>
            <a:lvl2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2pPr>
            <a:lvl3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3pPr>
            <a:lvl4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4pPr>
            <a:lvl5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5pPr>
            <a:lvl6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6pPr>
            <a:lvl7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7pPr>
            <a:lvl8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8pPr>
            <a:lvl9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26B7F"/>
                </a:solidFill>
                <a:latin typeface="Aptos"/>
                <a:ea typeface="Aptos"/>
                <a:cs typeface="Aptos"/>
              </a:rPr>
              <a:t>Compara antes y después</a:t>
            </a:r>
          </a:p>
        </p:txBody>
      </p:sp>
      <p:sp>
        <p:nvSpPr>
          <p:cNvPr id="22" name="transform-note">
            <a:extLst xmlns:a="http://schemas.openxmlformats.org/drawingml/2006/main">
              <a:ext uri="{FF2B5EF4-FFF2-40B4-BE49-F238E27FC236}">
                <a16:creationId xmlns:a16="http://schemas.microsoft.com/office/drawing/2014/main" id="{D4FC41A4-FB70-4075-9B84-4EEEF945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91150"/>
            <a:ext cx="864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  <a:lvl1pPr algn="ctr"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1pPr>
            <a:lvl2pPr algn="ctr"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2pPr>
            <a:lvl3pPr algn="ctr"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3pPr>
            <a:lvl4pPr algn="ctr"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4pPr>
            <a:lvl5pPr algn="ctr"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5pPr>
            <a:lvl6pPr algn="ctr"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6pPr>
            <a:lvl7pPr algn="ctr"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7pPr>
            <a:lvl8pPr algn="ctr"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8pPr>
            <a:lvl9pPr algn="ctr"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La meta es una primera solución entendible, verificable y reversible.</a:t>
            </a:r>
          </a:p>
        </p:txBody>
      </p:sp>
      <p:sp>
        <p:nvSpPr>
          <p:cNvPr id="23" name="brand-2">
            <a:extLst xmlns:a="http://schemas.openxmlformats.org/drawingml/2006/main">
              <a:ext uri="{FF2B5EF4-FFF2-40B4-BE49-F238E27FC236}">
                <a16:creationId xmlns:a16="http://schemas.microsoft.com/office/drawing/2014/main" id="{BA6EF262-B20C-4C3A-A04D-53AB65B1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LANGUAGE CENTER CHILE</a:t>
            </a:r>
          </a:p>
        </p:txBody>
      </p:sp>
      <p:sp>
        <p:nvSpPr>
          <p:cNvPr id="24" name="page-2">
            <a:extLst xmlns:a="http://schemas.openxmlformats.org/drawingml/2006/main">
              <a:ext uri="{FF2B5EF4-FFF2-40B4-BE49-F238E27FC236}">
                <a16:creationId xmlns:a16="http://schemas.microsoft.com/office/drawing/2014/main" id="{6F2CB2F4-7215-4112-80B7-4F111500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defPPr>
            <a:lvl1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1pPr>
            <a:lvl2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2pPr>
            <a:lvl3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3pPr>
            <a:lvl4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4pPr>
            <a:lvl5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5pPr>
            <a:lvl6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6pPr>
            <a:lvl7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7pPr>
            <a:lvl8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8pPr>
            <a:lvl9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26B7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6403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3">
            <a:extLst xmlns:a="http://schemas.openxmlformats.org/drawingml/2006/main">
              <a:ext uri="{FF2B5EF4-FFF2-40B4-BE49-F238E27FC236}">
                <a16:creationId xmlns:a16="http://schemas.microsoft.com/office/drawing/2014/main" id="{097D1D4D-9542-44F9-82F9-7315D7FA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Un proceso será el hilo conductor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318BB381-5673-4A6E-918E-3B1D45AA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02002960-B48C-4496-8537-40CF6102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26B7F"/>
                </a:solidFill>
                <a:latin typeface="Aptos"/>
                <a:ea typeface="Aptos"/>
                <a:cs typeface="Aptos"/>
              </a:rPr>
              <a:t>Trabajarás el mismo caso desde el diagnóstico hasta el roadmap de 30 días.</a:t>
            </a:r>
          </a:p>
        </p:txBody>
      </p:sp>
      <p:sp>
        <p:nvSpPr>
          <p:cNvPr id="4" name="process-main">
            <a:extLst xmlns:a="http://schemas.openxmlformats.org/drawingml/2006/main">
              <a:ext uri="{FF2B5EF4-FFF2-40B4-BE49-F238E27FC236}">
                <a16:creationId xmlns:a16="http://schemas.microsoft.com/office/drawing/2014/main" id="{11EC1AF0-0BBF-4C47-9976-0A176B75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04394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AF4F8"/>
            </a:solidFill>
            <a:prstDash val="solid"/>
          </a:ln>
        </p:spPr>
      </p:sp>
      <p:sp>
        <p:nvSpPr>
          <p:cNvPr id="5" name="process-example-label">
            <a:extLst xmlns:a="http://schemas.openxmlformats.org/drawingml/2006/main">
              <a:ext uri="{FF2B5EF4-FFF2-40B4-BE49-F238E27FC236}">
                <a16:creationId xmlns:a16="http://schemas.microsoft.com/office/drawing/2014/main" id="{E509582E-004A-4B02-A93C-FC220708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86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878A8"/>
                </a:solidFill>
                <a:latin typeface="Aptos"/>
                <a:ea typeface="Aptos"/>
                <a:cs typeface="Aptos"/>
              </a:rPr>
              <a:t>EJEMPLO FICTICIO</a:t>
            </a:r>
          </a:p>
        </p:txBody>
      </p:sp>
      <p:sp>
        <p:nvSpPr>
          <p:cNvPr id="6" name="process-example">
            <a:extLst xmlns:a="http://schemas.openxmlformats.org/drawingml/2006/main">
              <a:ext uri="{FF2B5EF4-FFF2-40B4-BE49-F238E27FC236}">
                <a16:creationId xmlns:a16="http://schemas.microsoft.com/office/drawing/2014/main" id="{895A9030-3934-4C1F-AEFC-58D05641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Registrar una consulta y definir el siguiente paso</a:t>
            </a:r>
          </a:p>
        </p:txBody>
      </p:sp>
      <p:sp>
        <p:nvSpPr>
          <p:cNvPr id="7" name="process-start">
            <a:extLst xmlns:a="http://schemas.openxmlformats.org/drawingml/2006/main">
              <a:ext uri="{FF2B5EF4-FFF2-40B4-BE49-F238E27FC236}">
                <a16:creationId xmlns:a16="http://schemas.microsoft.com/office/drawing/2014/main" id="{B2075DB3-3B58-4E0A-95FC-D62B1491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447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cess-start-label">
            <a:extLst xmlns:a="http://schemas.openxmlformats.org/drawingml/2006/main">
              <a:ext uri="{FF2B5EF4-FFF2-40B4-BE49-F238E27FC236}">
                <a16:creationId xmlns:a16="http://schemas.microsoft.com/office/drawing/2014/main" id="{DE6C2E73-54F5-4AB8-97FC-B7267DD9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B7F"/>
                </a:solidFill>
                <a:latin typeface="Aptos"/>
                <a:ea typeface="Aptos"/>
                <a:cs typeface="Aptos"/>
              </a:rPr>
              <a:t>Inicio: llega una consulta</a:t>
            </a:r>
          </a:p>
        </p:txBody>
      </p:sp>
      <p:sp>
        <p:nvSpPr>
          <p:cNvPr id="9" name="process-end">
            <a:extLst xmlns:a="http://schemas.openxmlformats.org/drawingml/2006/main">
              <a:ext uri="{FF2B5EF4-FFF2-40B4-BE49-F238E27FC236}">
                <a16:creationId xmlns:a16="http://schemas.microsoft.com/office/drawing/2014/main" id="{D1010C74-07A9-479E-832D-296DFC03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447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cess-end-label">
            <a:extLst xmlns:a="http://schemas.openxmlformats.org/drawingml/2006/main">
              <a:ext uri="{FF2B5EF4-FFF2-40B4-BE49-F238E27FC236}">
                <a16:creationId xmlns:a16="http://schemas.microsoft.com/office/drawing/2014/main" id="{518E79F7-3A51-4100-AC85-2C08884F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B7F"/>
                </a:solidFill>
                <a:latin typeface="Aptos"/>
                <a:ea typeface="Aptos"/>
                <a:cs typeface="Aptos"/>
              </a:rPr>
              <a:t>Resultado: queda una acción asignada</a:t>
            </a:r>
          </a:p>
        </p:txBody>
      </p:sp>
      <p:sp>
        <p:nvSpPr>
          <p:cNvPr id="11" name="process-caption">
            <a:extLst xmlns:a="http://schemas.openxmlformats.org/drawingml/2006/main">
              <a:ext uri="{FF2B5EF4-FFF2-40B4-BE49-F238E27FC236}">
                <a16:creationId xmlns:a16="http://schemas.microsoft.com/office/drawing/2014/main" id="{F98D54A6-754B-4F18-A1A5-6EA8A443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24450"/>
            <a:ext cx="975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 el Módulo 1 compararás varias opciones antes de confirmar tu caso.</a:t>
            </a:r>
          </a:p>
        </p:txBody>
      </p:sp>
      <p:sp>
        <p:nvSpPr>
          <p:cNvPr id="12" name="brand-3">
            <a:extLst xmlns:a="http://schemas.openxmlformats.org/drawingml/2006/main">
              <a:ext uri="{FF2B5EF4-FFF2-40B4-BE49-F238E27FC236}">
                <a16:creationId xmlns:a16="http://schemas.microsoft.com/office/drawing/2014/main" id="{6361A537-D840-413B-A292-2E8515A2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LANGUAGE CENTER CHILE</a:t>
            </a:r>
          </a:p>
        </p:txBody>
      </p:sp>
      <p:sp>
        <p:nvSpPr>
          <p:cNvPr id="13" name="page-3">
            <a:extLst xmlns:a="http://schemas.openxmlformats.org/drawingml/2006/main">
              <a:ext uri="{FF2B5EF4-FFF2-40B4-BE49-F238E27FC236}">
                <a16:creationId xmlns:a16="http://schemas.microsoft.com/office/drawing/2014/main" id="{B4F38873-A3B7-4EC2-AA8B-061B93B0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defPPr>
            <a:lvl1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1pPr>
            <a:lvl2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2pPr>
            <a:lvl3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3pPr>
            <a:lvl4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4pPr>
            <a:lvl5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5pPr>
            <a:lvl6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6pPr>
            <a:lvl7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7pPr>
            <a:lvl8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8pPr>
            <a:lvl9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26B7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30668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4">
            <a:extLst xmlns:a="http://schemas.openxmlformats.org/drawingml/2006/main">
              <a:ext uri="{FF2B5EF4-FFF2-40B4-BE49-F238E27FC236}">
                <a16:creationId xmlns:a16="http://schemas.microsoft.com/office/drawing/2014/main" id="{675DD5B3-AF27-4608-87A8-85783BB2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La ruta de siete pasos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6E20F56E-D797-4D2A-AAC7-6BBAF2B4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ode-circle-1-92">
            <a:extLst xmlns:a="http://schemas.openxmlformats.org/drawingml/2006/main">
              <a:ext uri="{FF2B5EF4-FFF2-40B4-BE49-F238E27FC236}">
                <a16:creationId xmlns:a16="http://schemas.microsoft.com/office/drawing/2014/main" id="{C7DB76CF-7DB3-46EE-B81C-647F7A05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ode-number-1-92">
            <a:extLst xmlns:a="http://schemas.openxmlformats.org/drawingml/2006/main">
              <a:ext uri="{FF2B5EF4-FFF2-40B4-BE49-F238E27FC236}">
                <a16:creationId xmlns:a16="http://schemas.microsoft.com/office/drawing/2014/main" id="{170C7949-F1A3-47BA-8B55-55543E8C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node-label-1-92">
            <a:extLst xmlns:a="http://schemas.openxmlformats.org/drawingml/2006/main">
              <a:ext uri="{FF2B5EF4-FFF2-40B4-BE49-F238E27FC236}">
                <a16:creationId xmlns:a16="http://schemas.microsoft.com/office/drawing/2014/main" id="{75DEDCAE-AEEC-4C5A-A61C-C885167A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240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Diagnóstico</a:t>
            </a:r>
          </a:p>
        </p:txBody>
      </p:sp>
      <p:sp>
        <p:nvSpPr>
          <p:cNvPr id="6" name="node-circle-2-470">
            <a:extLst xmlns:a="http://schemas.openxmlformats.org/drawingml/2006/main">
              <a:ext uri="{FF2B5EF4-FFF2-40B4-BE49-F238E27FC236}">
                <a16:creationId xmlns:a16="http://schemas.microsoft.com/office/drawing/2014/main" id="{AE7F35C7-CDC5-4F81-9000-9888DDB8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ode-number-2-470">
            <a:extLst xmlns:a="http://schemas.openxmlformats.org/drawingml/2006/main">
              <a:ext uri="{FF2B5EF4-FFF2-40B4-BE49-F238E27FC236}">
                <a16:creationId xmlns:a16="http://schemas.microsoft.com/office/drawing/2014/main" id="{C4BCFF0B-7E3E-441E-B127-D46367E9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node-label-2-470">
            <a:extLst xmlns:a="http://schemas.openxmlformats.org/drawingml/2006/main">
              <a:ext uri="{FF2B5EF4-FFF2-40B4-BE49-F238E27FC236}">
                <a16:creationId xmlns:a16="http://schemas.microsoft.com/office/drawing/2014/main" id="{93B933EF-B2F5-4832-B645-C6ECC686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240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CRM y ecosistema</a:t>
            </a:r>
          </a:p>
        </p:txBody>
      </p:sp>
      <p:sp>
        <p:nvSpPr>
          <p:cNvPr id="9" name="node-circle-3-848">
            <a:extLst xmlns:a="http://schemas.openxmlformats.org/drawingml/2006/main">
              <a:ext uri="{FF2B5EF4-FFF2-40B4-BE49-F238E27FC236}">
                <a16:creationId xmlns:a16="http://schemas.microsoft.com/office/drawing/2014/main" id="{8B1D2CBB-0D7D-46C6-BCC0-DBCC7375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de-number-3-848">
            <a:extLst xmlns:a="http://schemas.openxmlformats.org/drawingml/2006/main">
              <a:ext uri="{FF2B5EF4-FFF2-40B4-BE49-F238E27FC236}">
                <a16:creationId xmlns:a16="http://schemas.microsoft.com/office/drawing/2014/main" id="{04AFAA5F-BC0D-43A8-9D92-82C7CB7D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717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node-label-3-848">
            <a:extLst xmlns:a="http://schemas.openxmlformats.org/drawingml/2006/main">
              <a:ext uri="{FF2B5EF4-FFF2-40B4-BE49-F238E27FC236}">
                <a16:creationId xmlns:a16="http://schemas.microsoft.com/office/drawing/2014/main" id="{F53D6BB8-9157-4B8D-942A-18616982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240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IA aplicada</a:t>
            </a:r>
          </a:p>
        </p:txBody>
      </p:sp>
      <p:sp>
        <p:nvSpPr>
          <p:cNvPr id="12" name="node-circle-4-92">
            <a:extLst xmlns:a="http://schemas.openxmlformats.org/drawingml/2006/main">
              <a:ext uri="{FF2B5EF4-FFF2-40B4-BE49-F238E27FC236}">
                <a16:creationId xmlns:a16="http://schemas.microsoft.com/office/drawing/2014/main" id="{7B0D2C72-281A-4D40-AD0C-A41E1125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number-4-92">
            <a:extLst xmlns:a="http://schemas.openxmlformats.org/drawingml/2006/main">
              <a:ext uri="{FF2B5EF4-FFF2-40B4-BE49-F238E27FC236}">
                <a16:creationId xmlns:a16="http://schemas.microsoft.com/office/drawing/2014/main" id="{374DBF56-69F0-42C9-AD40-5D4923A3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node-label-4-92">
            <a:extLst xmlns:a="http://schemas.openxmlformats.org/drawingml/2006/main">
              <a:ext uri="{FF2B5EF4-FFF2-40B4-BE49-F238E27FC236}">
                <a16:creationId xmlns:a16="http://schemas.microsoft.com/office/drawing/2014/main" id="{58A88FAD-B09D-471D-8789-1DF82A63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765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n8n esencial</a:t>
            </a:r>
          </a:p>
        </p:txBody>
      </p:sp>
      <p:sp>
        <p:nvSpPr>
          <p:cNvPr id="15" name="node-circle-5-470">
            <a:extLst xmlns:a="http://schemas.openxmlformats.org/drawingml/2006/main">
              <a:ext uri="{FF2B5EF4-FFF2-40B4-BE49-F238E27FC236}">
                <a16:creationId xmlns:a16="http://schemas.microsoft.com/office/drawing/2014/main" id="{C69E4495-6725-493D-8A8F-3C32D6C3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-number-5-470">
            <a:extLst xmlns:a="http://schemas.openxmlformats.org/drawingml/2006/main">
              <a:ext uri="{FF2B5EF4-FFF2-40B4-BE49-F238E27FC236}">
                <a16:creationId xmlns:a16="http://schemas.microsoft.com/office/drawing/2014/main" id="{D64FE245-7AD7-4B75-BB8B-D55A9DEE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242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7" name="node-label-5-470">
            <a:extLst xmlns:a="http://schemas.openxmlformats.org/drawingml/2006/main">
              <a:ext uri="{FF2B5EF4-FFF2-40B4-BE49-F238E27FC236}">
                <a16:creationId xmlns:a16="http://schemas.microsoft.com/office/drawing/2014/main" id="{1CA818C2-C707-406D-86F2-31AF8F06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765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Captación y seguimiento</a:t>
            </a:r>
          </a:p>
        </p:txBody>
      </p:sp>
      <p:sp>
        <p:nvSpPr>
          <p:cNvPr id="18" name="node-circle-6-848">
            <a:extLst xmlns:a="http://schemas.openxmlformats.org/drawingml/2006/main">
              <a:ext uri="{FF2B5EF4-FFF2-40B4-BE49-F238E27FC236}">
                <a16:creationId xmlns:a16="http://schemas.microsoft.com/office/drawing/2014/main" id="{8764171B-7E37-4634-8D74-23F57F87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-number-6-848">
            <a:extLst xmlns:a="http://schemas.openxmlformats.org/drawingml/2006/main">
              <a:ext uri="{FF2B5EF4-FFF2-40B4-BE49-F238E27FC236}">
                <a16:creationId xmlns:a16="http://schemas.microsoft.com/office/drawing/2014/main" id="{134FB52A-F24F-4201-9D5F-D58D9B0D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242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0" name="node-label-6-848">
            <a:extLst xmlns:a="http://schemas.openxmlformats.org/drawingml/2006/main">
              <a:ext uri="{FF2B5EF4-FFF2-40B4-BE49-F238E27FC236}">
                <a16:creationId xmlns:a16="http://schemas.microsoft.com/office/drawing/2014/main" id="{1AC297BE-C81D-40A8-B00C-1CF774DC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765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21" name="node-circle-7-92">
            <a:extLst xmlns:a="http://schemas.openxmlformats.org/drawingml/2006/main">
              <a:ext uri="{FF2B5EF4-FFF2-40B4-BE49-F238E27FC236}">
                <a16:creationId xmlns:a16="http://schemas.microsoft.com/office/drawing/2014/main" id="{098C80CE-6614-41F4-82B9-CFC73F46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node-number-7-92">
            <a:extLst xmlns:a="http://schemas.openxmlformats.org/drawingml/2006/main">
              <a:ext uri="{FF2B5EF4-FFF2-40B4-BE49-F238E27FC236}">
                <a16:creationId xmlns:a16="http://schemas.microsoft.com/office/drawing/2014/main" id="{C0167B23-24B4-4713-B6B9-922FB2BE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3" name="node-label-7-92">
            <a:extLst xmlns:a="http://schemas.openxmlformats.org/drawingml/2006/main">
              <a:ext uri="{FF2B5EF4-FFF2-40B4-BE49-F238E27FC236}">
                <a16:creationId xmlns:a16="http://schemas.microsoft.com/office/drawing/2014/main" id="{688B16BF-DA9C-4B65-8DC5-C74C997F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290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Implementación y mejora</a:t>
            </a:r>
          </a:p>
        </p:txBody>
      </p:sp>
      <p:sp>
        <p:nvSpPr>
          <p:cNvPr id="24" name="route-result">
            <a:extLst xmlns:a="http://schemas.openxmlformats.org/drawingml/2006/main">
              <a:ext uri="{FF2B5EF4-FFF2-40B4-BE49-F238E27FC236}">
                <a16:creationId xmlns:a16="http://schemas.microsoft.com/office/drawing/2014/main" id="{8F692419-7CE6-40D6-8D4D-E2761099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33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defPPr>
            <a:lvl1pPr algn="ctr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1pPr>
            <a:lvl2pPr algn="ctr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2pPr>
            <a:lvl3pPr algn="ctr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3pPr>
            <a:lvl4pPr algn="ctr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4pPr>
            <a:lvl5pPr algn="ctr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5pPr>
            <a:lvl6pPr algn="ctr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6pPr>
            <a:lvl7pPr algn="ctr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7pPr>
            <a:lvl8pPr algn="ctr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8pPr>
            <a:lvl9pPr algn="ctr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75" b="1" i="0">
                <a:solidFill>
                  <a:srgbClr val="0878A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878A8"/>
                </a:solidFill>
                <a:latin typeface="Aptos"/>
                <a:ea typeface="Aptos"/>
                <a:cs typeface="Aptos"/>
              </a:rPr>
              <a:t>Resultado final</a:t>
            </a:r>
          </a:p>
        </p:txBody>
      </p:sp>
      <p:sp>
        <p:nvSpPr>
          <p:cNvPr id="25" name="route-result-copy">
            <a:extLst xmlns:a="http://schemas.openxmlformats.org/drawingml/2006/main">
              <a:ext uri="{FF2B5EF4-FFF2-40B4-BE49-F238E27FC236}">
                <a16:creationId xmlns:a16="http://schemas.microsoft.com/office/drawing/2014/main" id="{DE33C4FF-8F8F-4BF0-BA8B-1D807499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578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Un sistema mínimo probado y un roadmap de 30 días</a:t>
            </a:r>
          </a:p>
        </p:txBody>
      </p:sp>
      <p:sp>
        <p:nvSpPr>
          <p:cNvPr id="26" name="brand-4">
            <a:extLst xmlns:a="http://schemas.openxmlformats.org/drawingml/2006/main">
              <a:ext uri="{FF2B5EF4-FFF2-40B4-BE49-F238E27FC236}">
                <a16:creationId xmlns:a16="http://schemas.microsoft.com/office/drawing/2014/main" id="{C04878E3-8FB8-4830-A155-974B6B18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LANGUAGE CENTER CHILE</a:t>
            </a:r>
          </a:p>
        </p:txBody>
      </p:sp>
      <p:sp>
        <p:nvSpPr>
          <p:cNvPr id="27" name="page-4">
            <a:extLst xmlns:a="http://schemas.openxmlformats.org/drawingml/2006/main">
              <a:ext uri="{FF2B5EF4-FFF2-40B4-BE49-F238E27FC236}">
                <a16:creationId xmlns:a16="http://schemas.microsoft.com/office/drawing/2014/main" id="{8525FC50-7CB2-4B42-8A20-9A81C683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defPPr>
            <a:lvl1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1pPr>
            <a:lvl2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2pPr>
            <a:lvl3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3pPr>
            <a:lvl4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4pPr>
            <a:lvl5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5pPr>
            <a:lvl6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6pPr>
            <a:lvl7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7pPr>
            <a:lvl8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8pPr>
            <a:lvl9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26B7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99103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5">
            <a:extLst xmlns:a="http://schemas.openxmlformats.org/drawingml/2006/main">
              <a:ext uri="{FF2B5EF4-FFF2-40B4-BE49-F238E27FC236}">
                <a16:creationId xmlns:a16="http://schemas.microsoft.com/office/drawing/2014/main" id="{2502FD74-AAE4-465B-977C-76F9B5E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El workbook registra tus decisiones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BB60BFB7-32DE-4D98-A9B1-1E335DF3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A9A4ED78-D04B-4864-8F9C-91AA0520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26B7F"/>
                </a:solidFill>
                <a:latin typeface="Aptos"/>
                <a:ea typeface="Aptos"/>
                <a:cs typeface="Aptos"/>
              </a:rPr>
              <a:t>Comienza en la hoja Ruta y conserva una copia durante todo el programa.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107F8-5B8D-4D12-A068-C6A5CEE4CBE6}"/>
              </a:ext>
            </a:extLst>
          </p:cNvPr>
          <p:cNvGraphicFramePr/>
          <p:nvPr/>
        </p:nvGraphicFramePr>
        <p:xfrm>
          <a:off xmlns:a="http://schemas.openxmlformats.org/drawingml/2006/main" x="1123950" y="2228850"/>
          <a:ext xmlns:a="http://schemas.openxmlformats.org/drawingml/2006/main" cx="723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857750"/>
              </a:tblGrid>
              <a:tr h="590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Campo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AF4F8"/>
                      </a:solidFill>
                      <a:prstDash val="solid"/>
                    </a:lnL>
                    <a:lnR w="9525">
                      <a:solidFill>
                        <a:srgbClr val="EAF4F8"/>
                      </a:solidFill>
                      <a:prstDash val="solid"/>
                    </a:lnR>
                    <a:lnT w="9525">
                      <a:solidFill>
                        <a:srgbClr val="EAF4F8"/>
                      </a:solidFill>
                      <a:prstDash val="solid"/>
                    </a:lnT>
                    <a:lnB w="9525">
                      <a:solidFill>
                        <a:srgbClr val="EAF4F8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Ejemplo ficticio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AF4F8"/>
                      </a:solidFill>
                      <a:prstDash val="solid"/>
                    </a:lnR>
                    <a:lnT w="9525">
                      <a:solidFill>
                        <a:srgbClr val="EAF4F8"/>
                      </a:solidFill>
                      <a:prstDash val="solid"/>
                    </a:lnT>
                    <a:lnB w="9525">
                      <a:solidFill>
                        <a:srgbClr val="EAF4F8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3366"/>
                          </a:solidFill>
                          <a:latin typeface="Aptos"/>
                          <a:ea typeface="Aptos"/>
                          <a:cs typeface="Aptos"/>
                        </a:rPr>
                        <a:t>Nombre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AF4F8"/>
                      </a:solidFill>
                      <a:prstDash val="solid"/>
                    </a:lnL>
                    <a:lnR w="9525">
                      <a:solidFill>
                        <a:srgbClr val="EAF4F8"/>
                      </a:solidFill>
                      <a:prstDash val="solid"/>
                    </a:lnR>
                    <a:lnB w="9525">
                      <a:solidFill>
                        <a:srgbClr val="EAF4F8"/>
                      </a:solidFill>
                      <a:prstDash val="soli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Participante Demo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AF4F8"/>
                      </a:solidFill>
                      <a:prstDash val="solid"/>
                    </a:lnR>
                    <a:lnB w="9525">
                      <a:solidFill>
                        <a:srgbClr val="EAF4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3366"/>
                          </a:solidFill>
                          <a:latin typeface="Aptos"/>
                          <a:ea typeface="Aptos"/>
                          <a:cs typeface="Aptos"/>
                        </a:rPr>
                        <a:t>Negocio o proyecto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AF4F8"/>
                      </a:solidFill>
                      <a:prstDash val="solid"/>
                    </a:lnL>
                    <a:lnR w="9525">
                      <a:solidFill>
                        <a:srgbClr val="EAF4F8"/>
                      </a:solidFill>
                      <a:prstDash val="solid"/>
                    </a:lnR>
                    <a:lnB w="9525">
                      <a:solidFill>
                        <a:srgbClr val="EAF4F8"/>
                      </a:solidFill>
                      <a:prstDash val="soli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Taller Horizonte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AF4F8"/>
                      </a:solidFill>
                      <a:prstDash val="solid"/>
                    </a:lnR>
                    <a:lnB w="9525">
                      <a:solidFill>
                        <a:srgbClr val="EAF4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3366"/>
                          </a:solidFill>
                          <a:latin typeface="Aptos"/>
                          <a:ea typeface="Aptos"/>
                          <a:cs typeface="Aptos"/>
                        </a:rPr>
                        <a:t>Proceso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AF4F8"/>
                      </a:solidFill>
                      <a:prstDash val="solid"/>
                    </a:lnL>
                    <a:lnR w="9525">
                      <a:solidFill>
                        <a:srgbClr val="EAF4F8"/>
                      </a:solidFill>
                      <a:prstDash val="solid"/>
                    </a:lnR>
                    <a:lnB w="9525">
                      <a:solidFill>
                        <a:srgbClr val="EAF4F8"/>
                      </a:solidFill>
                      <a:prstDash val="soli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Registrar consultas y definir seguimiento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AF4F8"/>
                      </a:solidFill>
                      <a:prstDash val="solid"/>
                    </a:lnR>
                    <a:lnB w="9525">
                      <a:solidFill>
                        <a:srgbClr val="EAF4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3366"/>
                          </a:solidFill>
                          <a:latin typeface="Aptos"/>
                          <a:ea typeface="Aptos"/>
                          <a:cs typeface="Aptos"/>
                        </a:rPr>
                        <a:t>Resultado esperado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AF4F8"/>
                      </a:solidFill>
                      <a:prstDash val="solid"/>
                    </a:lnL>
                    <a:lnR w="9525">
                      <a:solidFill>
                        <a:srgbClr val="EAF4F8"/>
                      </a:solidFill>
                      <a:prstDash val="solid"/>
                    </a:lnR>
                    <a:lnB w="9525">
                      <a:solidFill>
                        <a:srgbClr val="EAF4F8"/>
                      </a:solidFill>
                      <a:prstDash val="soli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Reducir registros incompletos en la prueba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AF4F8"/>
                      </a:solidFill>
                      <a:prstDash val="solid"/>
                    </a:lnR>
                    <a:lnB w="9525">
                      <a:solidFill>
                        <a:srgbClr val="EAF4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workbook-status-circle">
            <a:extLst xmlns:a="http://schemas.openxmlformats.org/drawingml/2006/main">
              <a:ext uri="{FF2B5EF4-FFF2-40B4-BE49-F238E27FC236}">
                <a16:creationId xmlns:a16="http://schemas.microsoft.com/office/drawing/2014/main" id="{F24D3DB4-CD28-4C77-A152-AFC1362D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book-status">
            <a:extLst xmlns:a="http://schemas.openxmlformats.org/drawingml/2006/main">
              <a:ext uri="{FF2B5EF4-FFF2-40B4-BE49-F238E27FC236}">
                <a16:creationId xmlns:a16="http://schemas.microsoft.com/office/drawing/2014/main" id="{643FD317-F6E9-4752-92F6-D3317FE8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99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EN</a:t>
            </a:r>
          </a:p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CURSO</a:t>
            </a:r>
          </a:p>
        </p:txBody>
      </p:sp>
      <p:sp>
        <p:nvSpPr>
          <p:cNvPr id="7" name="workbook-status-copy">
            <a:extLst xmlns:a="http://schemas.openxmlformats.org/drawingml/2006/main">
              <a:ext uri="{FF2B5EF4-FFF2-40B4-BE49-F238E27FC236}">
                <a16:creationId xmlns:a16="http://schemas.microsoft.com/office/drawing/2014/main" id="{37FBA80C-E6F7-460C-9D49-C5301099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719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Marca Completado solo cuando exista una evidencia revisable.</a:t>
            </a:r>
          </a:p>
        </p:txBody>
      </p:sp>
      <p:sp>
        <p:nvSpPr>
          <p:cNvPr id="8" name="brand-5">
            <a:extLst xmlns:a="http://schemas.openxmlformats.org/drawingml/2006/main">
              <a:ext uri="{FF2B5EF4-FFF2-40B4-BE49-F238E27FC236}">
                <a16:creationId xmlns:a16="http://schemas.microsoft.com/office/drawing/2014/main" id="{CFAB10CA-3062-4ADC-A50B-F20846E2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LANGUAGE CENTER CHILE</a:t>
            </a:r>
          </a:p>
        </p:txBody>
      </p:sp>
      <p:sp>
        <p:nvSpPr>
          <p:cNvPr id="9" name="page-5">
            <a:extLst xmlns:a="http://schemas.openxmlformats.org/drawingml/2006/main">
              <a:ext uri="{FF2B5EF4-FFF2-40B4-BE49-F238E27FC236}">
                <a16:creationId xmlns:a16="http://schemas.microsoft.com/office/drawing/2014/main" id="{EF4993F3-8F54-4803-A4EE-156AEAF6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defPPr>
            <a:lvl1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1pPr>
            <a:lvl2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2pPr>
            <a:lvl3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3pPr>
            <a:lvl4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4pPr>
            <a:lvl5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5pPr>
            <a:lvl6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6pPr>
            <a:lvl7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7pPr>
            <a:lvl8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8pPr>
            <a:lvl9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26B7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32604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22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afety-title">
            <a:extLst xmlns:a="http://schemas.openxmlformats.org/drawingml/2006/main">
              <a:ext uri="{FF2B5EF4-FFF2-40B4-BE49-F238E27FC236}">
                <a16:creationId xmlns:a16="http://schemas.microsoft.com/office/drawing/2014/main" id="{12998022-B333-436F-8B90-39B5CE14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Cinco reglas para practicar con seguridad</a:t>
            </a:r>
          </a:p>
        </p:txBody>
      </p:sp>
      <p:sp>
        <p:nvSpPr>
          <p:cNvPr id="2" name="safety-rule">
            <a:extLst xmlns:a="http://schemas.openxmlformats.org/drawingml/2006/main">
              <a:ext uri="{FF2B5EF4-FFF2-40B4-BE49-F238E27FC236}">
                <a16:creationId xmlns:a16="http://schemas.microsoft.com/office/drawing/2014/main" id="{46F8B6E2-A555-4731-BA0D-9C511E39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afety-circle-0">
            <a:extLst xmlns:a="http://schemas.openxmlformats.org/drawingml/2006/main">
              <a:ext uri="{FF2B5EF4-FFF2-40B4-BE49-F238E27FC236}">
                <a16:creationId xmlns:a16="http://schemas.microsoft.com/office/drawing/2014/main" id="{C80D8105-BFFC-4BC7-A462-068D716B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fety-num-0">
            <a:extLst xmlns:a="http://schemas.openxmlformats.org/drawingml/2006/main">
              <a:ext uri="{FF2B5EF4-FFF2-40B4-BE49-F238E27FC236}">
                <a16:creationId xmlns:a16="http://schemas.microsoft.com/office/drawing/2014/main" id="{7E10C7CF-994D-42F3-A615-097DCA2F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safety-label-0">
            <a:extLst xmlns:a="http://schemas.openxmlformats.org/drawingml/2006/main">
              <a:ext uri="{FF2B5EF4-FFF2-40B4-BE49-F238E27FC236}">
                <a16:creationId xmlns:a16="http://schemas.microsoft.com/office/drawing/2014/main" id="{A5435761-DBD8-4378-A04B-8E194DC5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57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Documentar antes de conectar</a:t>
            </a:r>
          </a:p>
        </p:txBody>
      </p:sp>
      <p:sp>
        <p:nvSpPr>
          <p:cNvPr id="6" name="safety-copy-0">
            <a:extLst xmlns:a="http://schemas.openxmlformats.org/drawingml/2006/main">
              <a:ext uri="{FF2B5EF4-FFF2-40B4-BE49-F238E27FC236}">
                <a16:creationId xmlns:a16="http://schemas.microsoft.com/office/drawing/2014/main" id="{8B514F7C-790B-4724-87BD-65540433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6690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AF4F8"/>
                </a:solidFill>
                <a:latin typeface="Aptos"/>
                <a:ea typeface="Aptos"/>
                <a:cs typeface="Aptos"/>
              </a:rPr>
              <a:t>Describe primero el proceso manual.</a:t>
            </a:r>
          </a:p>
        </p:txBody>
      </p:sp>
      <p:sp>
        <p:nvSpPr>
          <p:cNvPr id="7" name="safety-circle-1">
            <a:extLst xmlns:a="http://schemas.openxmlformats.org/drawingml/2006/main">
              <a:ext uri="{FF2B5EF4-FFF2-40B4-BE49-F238E27FC236}">
                <a16:creationId xmlns:a16="http://schemas.microsoft.com/office/drawing/2014/main" id="{D79118F0-EF1F-4153-A269-3E96226E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afety-num-1">
            <a:extLst xmlns:a="http://schemas.openxmlformats.org/drawingml/2006/main">
              <a:ext uri="{FF2B5EF4-FFF2-40B4-BE49-F238E27FC236}">
                <a16:creationId xmlns:a16="http://schemas.microsoft.com/office/drawing/2014/main" id="{5513E601-A1A8-4A7E-ADB6-7DD0DDB1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safety-label-1">
            <a:extLst xmlns:a="http://schemas.openxmlformats.org/drawingml/2006/main">
              <a:ext uri="{FF2B5EF4-FFF2-40B4-BE49-F238E27FC236}">
                <a16:creationId xmlns:a16="http://schemas.microsoft.com/office/drawing/2014/main" id="{59700D99-601C-4D94-B389-9590416E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57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Datos ficticios primero</a:t>
            </a:r>
          </a:p>
        </p:txBody>
      </p:sp>
      <p:sp>
        <p:nvSpPr>
          <p:cNvPr id="10" name="safety-copy-1">
            <a:extLst xmlns:a="http://schemas.openxmlformats.org/drawingml/2006/main">
              <a:ext uri="{FF2B5EF4-FFF2-40B4-BE49-F238E27FC236}">
                <a16:creationId xmlns:a16="http://schemas.microsoft.com/office/drawing/2014/main" id="{9D49B063-BF00-4B37-97FD-10594575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6700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AF4F8"/>
                </a:solidFill>
                <a:latin typeface="Aptos"/>
                <a:ea typeface="Aptos"/>
                <a:cs typeface="Aptos"/>
              </a:rPr>
              <a:t>No uses información personal, credenciales ni pagos.</a:t>
            </a:r>
          </a:p>
        </p:txBody>
      </p:sp>
      <p:sp>
        <p:nvSpPr>
          <p:cNvPr id="11" name="safety-circle-2">
            <a:extLst xmlns:a="http://schemas.openxmlformats.org/drawingml/2006/main">
              <a:ext uri="{FF2B5EF4-FFF2-40B4-BE49-F238E27FC236}">
                <a16:creationId xmlns:a16="http://schemas.microsoft.com/office/drawing/2014/main" id="{FEAD14BB-4449-451D-8248-9814049C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afety-num-2">
            <a:extLst xmlns:a="http://schemas.openxmlformats.org/drawingml/2006/main">
              <a:ext uri="{FF2B5EF4-FFF2-40B4-BE49-F238E27FC236}">
                <a16:creationId xmlns:a16="http://schemas.microsoft.com/office/drawing/2014/main" id="{597F82FF-691E-4090-B1C8-D5E80F9A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safety-label-2">
            <a:extLst xmlns:a="http://schemas.openxmlformats.org/drawingml/2006/main">
              <a:ext uri="{FF2B5EF4-FFF2-40B4-BE49-F238E27FC236}">
                <a16:creationId xmlns:a16="http://schemas.microsoft.com/office/drawing/2014/main" id="{10A22D02-9372-4C03-B205-6D78FD69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575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Revisión humana</a:t>
            </a:r>
          </a:p>
        </p:txBody>
      </p:sp>
      <p:sp>
        <p:nvSpPr>
          <p:cNvPr id="14" name="safety-copy-2">
            <a:extLst xmlns:a="http://schemas.openxmlformats.org/drawingml/2006/main">
              <a:ext uri="{FF2B5EF4-FFF2-40B4-BE49-F238E27FC236}">
                <a16:creationId xmlns:a16="http://schemas.microsoft.com/office/drawing/2014/main" id="{C271C064-F9D8-4452-AB71-000A533E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6710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AF4F8"/>
                </a:solidFill>
                <a:latin typeface="Aptos"/>
                <a:ea typeface="Aptos"/>
                <a:cs typeface="Aptos"/>
              </a:rPr>
              <a:t>Una persona resuelve dudas, errores y excepciones.</a:t>
            </a:r>
          </a:p>
        </p:txBody>
      </p:sp>
      <p:sp>
        <p:nvSpPr>
          <p:cNvPr id="15" name="safety-circle-3">
            <a:extLst xmlns:a="http://schemas.openxmlformats.org/drawingml/2006/main">
              <a:ext uri="{FF2B5EF4-FFF2-40B4-BE49-F238E27FC236}">
                <a16:creationId xmlns:a16="http://schemas.microsoft.com/office/drawing/2014/main" id="{139D7F95-2E0F-4DAF-A528-EE6FD4CA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afety-num-3">
            <a:extLst xmlns:a="http://schemas.openxmlformats.org/drawingml/2006/main">
              <a:ext uri="{FF2B5EF4-FFF2-40B4-BE49-F238E27FC236}">
                <a16:creationId xmlns:a16="http://schemas.microsoft.com/office/drawing/2014/main" id="{DAC7D91B-9078-43A2-B5CE-52432489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safety-label-3">
            <a:extLst xmlns:a="http://schemas.openxmlformats.org/drawingml/2006/main">
              <a:ext uri="{FF2B5EF4-FFF2-40B4-BE49-F238E27FC236}">
                <a16:creationId xmlns:a16="http://schemas.microsoft.com/office/drawing/2014/main" id="{18A087D9-D1A8-4DFD-89E1-BE04FE0C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576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Cambios reversibles</a:t>
            </a:r>
          </a:p>
        </p:txBody>
      </p:sp>
      <p:sp>
        <p:nvSpPr>
          <p:cNvPr id="18" name="safety-copy-3">
            <a:extLst xmlns:a="http://schemas.openxmlformats.org/drawingml/2006/main">
              <a:ext uri="{FF2B5EF4-FFF2-40B4-BE49-F238E27FC236}">
                <a16:creationId xmlns:a16="http://schemas.microsoft.com/office/drawing/2014/main" id="{212C62DB-8365-4D61-A807-B90D530A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6720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AF4F8"/>
                </a:solidFill>
                <a:latin typeface="Aptos"/>
                <a:ea typeface="Aptos"/>
                <a:cs typeface="Aptos"/>
              </a:rPr>
              <a:t>Conserva respaldos y registra cada modificación.</a:t>
            </a:r>
          </a:p>
        </p:txBody>
      </p:sp>
      <p:sp>
        <p:nvSpPr>
          <p:cNvPr id="19" name="safety-circle-4">
            <a:extLst xmlns:a="http://schemas.openxmlformats.org/drawingml/2006/main">
              <a:ext uri="{FF2B5EF4-FFF2-40B4-BE49-F238E27FC236}">
                <a16:creationId xmlns:a16="http://schemas.microsoft.com/office/drawing/2014/main" id="{047E8E81-C012-4D90-A3EB-D0DD4A92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afety-num-4">
            <a:extLst xmlns:a="http://schemas.openxmlformats.org/drawingml/2006/main">
              <a:ext uri="{FF2B5EF4-FFF2-40B4-BE49-F238E27FC236}">
                <a16:creationId xmlns:a16="http://schemas.microsoft.com/office/drawing/2014/main" id="{C6EBFE9F-0A40-4628-97A6-4DEA3A69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safety-label-4">
            <a:extLst xmlns:a="http://schemas.openxmlformats.org/drawingml/2006/main">
              <a:ext uri="{FF2B5EF4-FFF2-40B4-BE49-F238E27FC236}">
                <a16:creationId xmlns:a16="http://schemas.microsoft.com/office/drawing/2014/main" id="{B17F0FD3-B37F-4DD1-A742-2D9150FB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577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Medir antes de afirmar</a:t>
            </a:r>
          </a:p>
        </p:txBody>
      </p:sp>
      <p:sp>
        <p:nvSpPr>
          <p:cNvPr id="22" name="safety-copy-4">
            <a:extLst xmlns:a="http://schemas.openxmlformats.org/drawingml/2006/main">
              <a:ext uri="{FF2B5EF4-FFF2-40B4-BE49-F238E27FC236}">
                <a16:creationId xmlns:a16="http://schemas.microsoft.com/office/drawing/2014/main" id="{B98EB545-AC69-4DBA-8810-2293C69C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6730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AF4F8"/>
                </a:solidFill>
                <a:latin typeface="Aptos"/>
                <a:ea typeface="Aptos"/>
                <a:cs typeface="Aptos"/>
              </a:rPr>
              <a:t>Compara la línea base con una prueba equivalente.</a:t>
            </a:r>
          </a:p>
        </p:txBody>
      </p:sp>
      <p:sp>
        <p:nvSpPr>
          <p:cNvPr id="23" name="brand-6">
            <a:extLst xmlns:a="http://schemas.openxmlformats.org/drawingml/2006/main">
              <a:ext uri="{FF2B5EF4-FFF2-40B4-BE49-F238E27FC236}">
                <a16:creationId xmlns:a16="http://schemas.microsoft.com/office/drawing/2014/main" id="{64EBB2E1-D082-402B-9CA0-D5A8E22B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LANGUAGE CENTER CHILE</a:t>
            </a:r>
          </a:p>
        </p:txBody>
      </p:sp>
      <p:sp>
        <p:nvSpPr>
          <p:cNvPr id="24" name="page-6">
            <a:extLst xmlns:a="http://schemas.openxmlformats.org/drawingml/2006/main">
              <a:ext uri="{FF2B5EF4-FFF2-40B4-BE49-F238E27FC236}">
                <a16:creationId xmlns:a16="http://schemas.microsoft.com/office/drawing/2014/main" id="{05A61143-E209-4D39-AD83-999EE619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82427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7">
            <a:extLst xmlns:a="http://schemas.openxmlformats.org/drawingml/2006/main">
              <a:ext uri="{FF2B5EF4-FFF2-40B4-BE49-F238E27FC236}">
                <a16:creationId xmlns:a16="http://schemas.microsoft.com/office/drawing/2014/main" id="{F9DFF282-C4F2-4111-A814-4D5E729D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Primera actividad</a:t>
            </a:r>
          </a:p>
        </p:txBody>
      </p:sp>
      <p:sp>
        <p:nvSpPr>
          <p:cNvPr id="2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A2AD1BF6-D792-435C-BC3A-D1D25718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BB0C42F2-3FF9-4854-9324-45F8BFB4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26B7F"/>
                </a:solidFill>
                <a:latin typeface="Aptos"/>
                <a:ea typeface="Aptos"/>
                <a:cs typeface="Aptos"/>
              </a:rPr>
              <a:t>Completa la hoja Ruta antes de comenzar el diagnóstico.</a:t>
            </a:r>
          </a:p>
        </p:txBody>
      </p:sp>
      <p:sp>
        <p:nvSpPr>
          <p:cNvPr id="4" name="activity-num-0">
            <a:extLst xmlns:a="http://schemas.openxmlformats.org/drawingml/2006/main">
              <a:ext uri="{FF2B5EF4-FFF2-40B4-BE49-F238E27FC236}">
                <a16:creationId xmlns:a16="http://schemas.microsoft.com/office/drawing/2014/main" id="{6FAE26BC-C3C8-47CF-8300-36A0B216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9A7C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activity-label-0">
            <a:extLst xmlns:a="http://schemas.openxmlformats.org/drawingml/2006/main">
              <a:ext uri="{FF2B5EF4-FFF2-40B4-BE49-F238E27FC236}">
                <a16:creationId xmlns:a16="http://schemas.microsoft.com/office/drawing/2014/main" id="{67E90DF4-2D5E-4575-A248-93D39385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52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Tarea repetitiva</a:t>
            </a:r>
          </a:p>
        </p:txBody>
      </p:sp>
      <p:sp>
        <p:nvSpPr>
          <p:cNvPr id="6" name="activity-copy-0">
            <a:extLst xmlns:a="http://schemas.openxmlformats.org/drawingml/2006/main">
              <a:ext uri="{FF2B5EF4-FFF2-40B4-BE49-F238E27FC236}">
                <a16:creationId xmlns:a16="http://schemas.microsoft.com/office/drawing/2014/main" id="{8ED61512-6C20-4328-98EC-B9153059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717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¿Qué haces varias veces por semana o por mes?</a:t>
            </a:r>
          </a:p>
        </p:txBody>
      </p:sp>
      <p:sp>
        <p:nvSpPr>
          <p:cNvPr id="7" name="activity-line-0">
            <a:extLst xmlns:a="http://schemas.openxmlformats.org/drawingml/2006/main">
              <a:ext uri="{FF2B5EF4-FFF2-40B4-BE49-F238E27FC236}">
                <a16:creationId xmlns:a16="http://schemas.microsoft.com/office/drawing/2014/main" id="{8C595160-4E1A-4538-9534-42AE36C4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0985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ctivity-num-1">
            <a:extLst xmlns:a="http://schemas.openxmlformats.org/drawingml/2006/main">
              <a:ext uri="{FF2B5EF4-FFF2-40B4-BE49-F238E27FC236}">
                <a16:creationId xmlns:a16="http://schemas.microsoft.com/office/drawing/2014/main" id="{FFEEE191-A595-4F2B-8917-1952D059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9A7C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activity-label-1">
            <a:extLst xmlns:a="http://schemas.openxmlformats.org/drawingml/2006/main">
              <a:ext uri="{FF2B5EF4-FFF2-40B4-BE49-F238E27FC236}">
                <a16:creationId xmlns:a16="http://schemas.microsoft.com/office/drawing/2014/main" id="{D34F7D6E-4F46-4D7C-BCAB-003407B4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33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Inicio</a:t>
            </a:r>
          </a:p>
        </p:txBody>
      </p:sp>
      <p:sp>
        <p:nvSpPr>
          <p:cNvPr id="10" name="activity-copy-1">
            <a:extLst xmlns:a="http://schemas.openxmlformats.org/drawingml/2006/main">
              <a:ext uri="{FF2B5EF4-FFF2-40B4-BE49-F238E27FC236}">
                <a16:creationId xmlns:a16="http://schemas.microsoft.com/office/drawing/2014/main" id="{9421989D-2393-4A57-A94C-19F6C7EB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¿Quién o qué inicia el proceso?</a:t>
            </a:r>
          </a:p>
        </p:txBody>
      </p:sp>
      <p:sp>
        <p:nvSpPr>
          <p:cNvPr id="11" name="activity-line-1">
            <a:extLst xmlns:a="http://schemas.openxmlformats.org/drawingml/2006/main">
              <a:ext uri="{FF2B5EF4-FFF2-40B4-BE49-F238E27FC236}">
                <a16:creationId xmlns:a16="http://schemas.microsoft.com/office/drawing/2014/main" id="{0568A9C2-88A4-4A83-B62D-34DAF932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90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ctivity-num-2">
            <a:extLst xmlns:a="http://schemas.openxmlformats.org/drawingml/2006/main">
              <a:ext uri="{FF2B5EF4-FFF2-40B4-BE49-F238E27FC236}">
                <a16:creationId xmlns:a16="http://schemas.microsoft.com/office/drawing/2014/main" id="{EEE440F4-8FD2-452A-8062-449B2A19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9A7C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activity-label-2">
            <a:extLst xmlns:a="http://schemas.openxmlformats.org/drawingml/2006/main">
              <a:ext uri="{FF2B5EF4-FFF2-40B4-BE49-F238E27FC236}">
                <a16:creationId xmlns:a16="http://schemas.microsoft.com/office/drawing/2014/main" id="{B0AB3D4F-C6C9-4A5C-954B-6CFF446F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14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Información</a:t>
            </a:r>
          </a:p>
        </p:txBody>
      </p:sp>
      <p:sp>
        <p:nvSpPr>
          <p:cNvPr id="14" name="activity-copy-2">
            <a:extLst xmlns:a="http://schemas.openxmlformats.org/drawingml/2006/main">
              <a:ext uri="{FF2B5EF4-FFF2-40B4-BE49-F238E27FC236}">
                <a16:creationId xmlns:a16="http://schemas.microsoft.com/office/drawing/2014/main" id="{4F5028C4-1C3F-4D25-8E35-481E32DE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¿Qué necesita el proceso para comenzar?</a:t>
            </a:r>
          </a:p>
        </p:txBody>
      </p:sp>
      <p:sp>
        <p:nvSpPr>
          <p:cNvPr id="15" name="activity-line-2">
            <a:extLst xmlns:a="http://schemas.openxmlformats.org/drawingml/2006/main">
              <a:ext uri="{FF2B5EF4-FFF2-40B4-BE49-F238E27FC236}">
                <a16:creationId xmlns:a16="http://schemas.microsoft.com/office/drawing/2014/main" id="{B2650A89-D001-4388-9C49-001F8954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7195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ctivity-num-3">
            <a:extLst xmlns:a="http://schemas.openxmlformats.org/drawingml/2006/main">
              <a:ext uri="{FF2B5EF4-FFF2-40B4-BE49-F238E27FC236}">
                <a16:creationId xmlns:a16="http://schemas.microsoft.com/office/drawing/2014/main" id="{7C063B26-4D52-4287-B37A-15C2B763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9A7C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activity-label-3">
            <a:extLst xmlns:a="http://schemas.openxmlformats.org/drawingml/2006/main">
              <a:ext uri="{FF2B5EF4-FFF2-40B4-BE49-F238E27FC236}">
                <a16:creationId xmlns:a16="http://schemas.microsoft.com/office/drawing/2014/main" id="{0DF58FCB-F9F8-49D7-813E-45448063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95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18" name="activity-copy-3">
            <a:extLst xmlns:a="http://schemas.openxmlformats.org/drawingml/2006/main">
              <a:ext uri="{FF2B5EF4-FFF2-40B4-BE49-F238E27FC236}">
                <a16:creationId xmlns:a16="http://schemas.microsoft.com/office/drawing/2014/main" id="{9C133F51-3011-4B96-9A28-DDD28D41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148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¿Qué debería quedar listo al terminar?</a:t>
            </a:r>
          </a:p>
        </p:txBody>
      </p:sp>
      <p:sp>
        <p:nvSpPr>
          <p:cNvPr id="19" name="activity-line-3">
            <a:extLst xmlns:a="http://schemas.openxmlformats.org/drawingml/2006/main">
              <a:ext uri="{FF2B5EF4-FFF2-40B4-BE49-F238E27FC236}">
                <a16:creationId xmlns:a16="http://schemas.microsoft.com/office/drawing/2014/main" id="{D1152716-7C20-4C40-B129-9BB42918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530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ctivity-callout">
            <a:extLst xmlns:a="http://schemas.openxmlformats.org/drawingml/2006/main">
              <a:ext uri="{FF2B5EF4-FFF2-40B4-BE49-F238E27FC236}">
                <a16:creationId xmlns:a16="http://schemas.microsoft.com/office/drawing/2014/main" id="{00773106-F6B0-4883-9E50-E7D21894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95900"/>
            <a:ext cx="3409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ctivity-callout-copy">
            <a:extLst xmlns:a="http://schemas.openxmlformats.org/drawingml/2006/main">
              <a:ext uri="{FF2B5EF4-FFF2-40B4-BE49-F238E27FC236}">
                <a16:creationId xmlns:a16="http://schemas.microsoft.com/office/drawing/2014/main" id="{68B7C8BD-2607-4F07-86FA-7CC4B523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673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Después, cambia el Paso 1 a En curso.</a:t>
            </a:r>
          </a:p>
        </p:txBody>
      </p:sp>
      <p:sp>
        <p:nvSpPr>
          <p:cNvPr id="22" name="brand-7">
            <a:extLst xmlns:a="http://schemas.openxmlformats.org/drawingml/2006/main">
              <a:ext uri="{FF2B5EF4-FFF2-40B4-BE49-F238E27FC236}">
                <a16:creationId xmlns:a16="http://schemas.microsoft.com/office/drawing/2014/main" id="{3486C408-4CF6-48E1-90C3-2D03E24F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00336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3366"/>
                </a:solidFill>
                <a:latin typeface="Aptos"/>
                <a:ea typeface="Aptos"/>
                <a:cs typeface="Aptos"/>
              </a:rPr>
              <a:t>LANGUAGE CENTER CHILE</a:t>
            </a:r>
          </a:p>
        </p:txBody>
      </p:sp>
      <p:sp>
        <p:nvSpPr>
          <p:cNvPr id="23" name="page-7">
            <a:extLst xmlns:a="http://schemas.openxmlformats.org/drawingml/2006/main">
              <a:ext uri="{FF2B5EF4-FFF2-40B4-BE49-F238E27FC236}">
                <a16:creationId xmlns:a16="http://schemas.microsoft.com/office/drawing/2014/main" id="{1E1EF6DF-A639-4FF5-B593-406045FA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defPPr>
            <a:lvl1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1pPr>
            <a:lvl2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2pPr>
            <a:lvl3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3pPr>
            <a:lvl4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4pPr>
            <a:lvl5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5pPr>
            <a:lvl6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6pPr>
            <a:lvl7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7pPr>
            <a:lvl8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8pPr>
            <a:lvl9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526B7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26B7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89621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33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F85D648D-5BAC-49AC-A934-C9D35EC0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9A7C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9A7CE"/>
                </a:solidFill>
                <a:latin typeface="Aptos"/>
                <a:ea typeface="Aptos"/>
                <a:cs typeface="Aptos"/>
              </a:rPr>
              <a:t>SIGUIENTE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2D6DA7B-BBC0-4472-826C-4D111AE0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7810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Paso 1</a:t>
            </a:r>
          </a:p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Diagnóstico y priorización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E2271A34-B5B1-4DC7-985E-4DAC5F34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copy">
            <a:extLst xmlns:a="http://schemas.openxmlformats.org/drawingml/2006/main">
              <a:ext uri="{FF2B5EF4-FFF2-40B4-BE49-F238E27FC236}">
                <a16:creationId xmlns:a16="http://schemas.microsoft.com/office/drawing/2014/main" id="{DCA9E84C-8F61-4B31-BC93-43075507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EAF4F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EAF4F8"/>
                </a:solidFill>
                <a:latin typeface="Aptos"/>
                <a:ea typeface="Aptos"/>
                <a:cs typeface="Aptos"/>
              </a:rPr>
              <a:t>Elegirás qué proceso vale la pena mejorar primero.</a:t>
            </a:r>
          </a:p>
        </p:txBody>
      </p:sp>
      <p:sp>
        <p:nvSpPr>
          <p:cNvPr id="5" name="close-circle">
            <a:extLst xmlns:a="http://schemas.openxmlformats.org/drawingml/2006/main">
              <a:ext uri="{FF2B5EF4-FFF2-40B4-BE49-F238E27FC236}">
                <a16:creationId xmlns:a16="http://schemas.microsoft.com/office/drawing/2014/main" id="{344C1775-02DA-449D-8C28-C95165A6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62150"/>
            <a:ext cx="14668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number">
            <a:extLst xmlns:a="http://schemas.openxmlformats.org/drawingml/2006/main">
              <a:ext uri="{FF2B5EF4-FFF2-40B4-BE49-F238E27FC236}">
                <a16:creationId xmlns:a16="http://schemas.microsoft.com/office/drawing/2014/main" id="{56991111-A944-4DF4-B793-6B8658DF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66950"/>
            <a:ext cx="1466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4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4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4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4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4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4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4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4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4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4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4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close-brand">
            <a:extLst xmlns:a="http://schemas.openxmlformats.org/drawingml/2006/main">
              <a:ext uri="{FF2B5EF4-FFF2-40B4-BE49-F238E27FC236}">
                <a16:creationId xmlns:a16="http://schemas.microsoft.com/office/drawing/2014/main" id="{E3B1E747-3428-475C-B439-0135451E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LANGUAGE CENTER CHILE</a:t>
            </a:r>
          </a:p>
        </p:txBody>
      </p:sp>
    </p:spTree>
    <p:extLst>
      <p:ext uri="{BB962C8B-B14F-4D97-AF65-F5344CB8AC3E}">
        <p14:creationId xmlns:p14="http://schemas.microsoft.com/office/powerpoint/2010/main" val="1627360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2026-10-26T04:12:51.6800000Z</dcterms:created>
  <dcterms:modified xsi:type="dcterms:W3CDTF">2026-10-26T04:12:51.6800000Z</dcterms:modified>
</coreProperties>
</file>