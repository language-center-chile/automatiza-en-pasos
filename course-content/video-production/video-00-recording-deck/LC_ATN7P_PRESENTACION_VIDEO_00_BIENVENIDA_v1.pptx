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c36fb84c944f1f" /><Relationship Type="http://schemas.openxmlformats.org/officeDocument/2006/relationships/extended-properties" Target="/docProps/app.xml" Id="R11c462403de94abb" /><Relationship Type="http://schemas.openxmlformats.org/officeDocument/2006/relationships/officeDocument" Target="/ppt/presentation.xml" Id="R230cf37a164646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0d88d1082e4f58"/>
  </p:sldMasterIdLst>
  <p:notesMasterIdLst>
    <p:notesMasterId xmlns:r="http://schemas.openxmlformats.org/officeDocument/2006/relationships" r:id="Rc924c6ce28834591"/>
  </p:notesMasterIdLst>
  <p:sldIdLst>
    <p:sldId xmlns:r="http://schemas.openxmlformats.org/officeDocument/2006/relationships" id="256" r:id="R83b78b7cdd194231"/>
    <p:sldId xmlns:r="http://schemas.openxmlformats.org/officeDocument/2006/relationships" id="257" r:id="Re31949e0d04946af"/>
    <p:sldId xmlns:r="http://schemas.openxmlformats.org/officeDocument/2006/relationships" id="258" r:id="R7c08c643053b4184"/>
    <p:sldId xmlns:r="http://schemas.openxmlformats.org/officeDocument/2006/relationships" id="259" r:id="R9b17355528ee457f"/>
    <p:sldId xmlns:r="http://schemas.openxmlformats.org/officeDocument/2006/relationships" id="260" r:id="R2461bf01f14e4746"/>
    <p:sldId xmlns:r="http://schemas.openxmlformats.org/officeDocument/2006/relationships" id="261" r:id="Rb7311a2c67cb45c7"/>
    <p:sldId xmlns:r="http://schemas.openxmlformats.org/officeDocument/2006/relationships" id="262" r:id="R2e2f17a676cb4daf"/>
    <p:sldId xmlns:r="http://schemas.openxmlformats.org/officeDocument/2006/relationships" id="263" r:id="Ra28fbe817f0649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d158a98c8c4109" /><Relationship Type="http://schemas.openxmlformats.org/officeDocument/2006/relationships/slideMaster" Target="/ppt/slideMasters/slideMaster1.xml" Id="R170d88d1082e4f58" /><Relationship Type="http://schemas.openxmlformats.org/officeDocument/2006/relationships/notesMaster" Target="/ppt/notesMasters/notesMaster1.xml" Id="Rc924c6ce28834591" /><Relationship Type="http://schemas.openxmlformats.org/officeDocument/2006/relationships/presProps" Target="/ppt/presProps.xml" Id="R116aadf2aee3477f" /><Relationship Type="http://schemas.openxmlformats.org/officeDocument/2006/relationships/tableStyles" Target="/ppt/tableStyles.xml" Id="R6585ad09f0e947fc" /><Relationship Type="http://schemas.openxmlformats.org/officeDocument/2006/relationships/slide" Target="/ppt/slides/slide1.xml" Id="R83b78b7cdd194231" /><Relationship Type="http://schemas.openxmlformats.org/officeDocument/2006/relationships/slide" Target="/ppt/slides/slide2.xml" Id="Re31949e0d04946af" /><Relationship Type="http://schemas.openxmlformats.org/officeDocument/2006/relationships/slide" Target="/ppt/slides/slide3.xml" Id="R7c08c643053b4184" /><Relationship Type="http://schemas.openxmlformats.org/officeDocument/2006/relationships/slide" Target="/ppt/slides/slide4.xml" Id="R9b17355528ee457f" /><Relationship Type="http://schemas.openxmlformats.org/officeDocument/2006/relationships/slide" Target="/ppt/slides/slide5.xml" Id="R2461bf01f14e4746" /><Relationship Type="http://schemas.openxmlformats.org/officeDocument/2006/relationships/slide" Target="/ppt/slides/slide6.xml" Id="Rb7311a2c67cb45c7" /><Relationship Type="http://schemas.openxmlformats.org/officeDocument/2006/relationships/slide" Target="/ppt/slides/slide7.xml" Id="R2e2f17a676cb4daf" /><Relationship Type="http://schemas.openxmlformats.org/officeDocument/2006/relationships/slide" Target="/ppt/slides/slide8.xml" Id="Ra28fbe817f0649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a4e6e6e2f541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d01d539f6b48b7" /><Relationship Type="http://schemas.openxmlformats.org/officeDocument/2006/relationships/notesMaster" Target="/ppt/notesMasters/notesMaster1.xml" Id="R270706d25f7542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d2db211b444b26" /><Relationship Type="http://schemas.openxmlformats.org/officeDocument/2006/relationships/notesMaster" Target="/ppt/notesMasters/notesMaster1.xml" Id="Rd1baeb6cf36b4a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23b96c88634650" /><Relationship Type="http://schemas.openxmlformats.org/officeDocument/2006/relationships/notesMaster" Target="/ppt/notesMasters/notesMaster1.xml" Id="R60d93abfe42b48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49adb3f3834e15" /><Relationship Type="http://schemas.openxmlformats.org/officeDocument/2006/relationships/notesMaster" Target="/ppt/notesMasters/notesMaster1.xml" Id="R115063adc3584f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6f3b14e7434fb8" /><Relationship Type="http://schemas.openxmlformats.org/officeDocument/2006/relationships/notesMaster" Target="/ppt/notesMasters/notesMaster1.xml" Id="R931306e347c349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b590b5301045b7" /><Relationship Type="http://schemas.openxmlformats.org/officeDocument/2006/relationships/notesMaster" Target="/ppt/notesMasters/notesMaster1.xml" Id="R37079895c3c04a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3eae9b25c14f2b" /><Relationship Type="http://schemas.openxmlformats.org/officeDocument/2006/relationships/notesMaster" Target="/ppt/notesMasters/notesMaster1.xml" Id="Reb4d02f2ebe444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aef369b5f74abd" /><Relationship Type="http://schemas.openxmlformats.org/officeDocument/2006/relationships/notesMaster" Target="/ppt/notesMasters/notesMaster1.xml" Id="R30a2a2c08aa34a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00:00–00:35. Hola, te doy la bienvenida a Automatiza tu Negocio en 7 Pasos. Este programa fue creado para ayudarte a transformar una tarea repetitiva de tu negocio en un proceso más claro, medible y preparado para automatizarse. No necesitas saber programar ni comenzar comprando nuevas herramientas. Lo más importante es entender qué haces hoy, dónde se pierde tiempo y qué resultado quieres mejorar.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00:35–01:20. Durante el curso trabajarás sobre un solo proceso real. Puede ser el registro de consultas, el seguimiento de clientes, la agenda, el envío de información o la preparación de documentos. Primero vas a observar y ordenar ese proceso. Después crearás una base de seguimiento, explorarás usos concretos de inteligencia artificial y diseñarás un flujo básico. Finalmente, probarás una versión mínima y definirás cómo medirla y mejorarla. La meta es terminar con una primera solución entendible, verificable y que puedas seguir desarrollando con criterio.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Elige una tarea que conozcas y que se repita varias veces por semana o por mes. Debe tener un inicio y un resultado reconocibles. La selección inicial puede cambiar. En el primer módulo compararás varias tareas y priorizarás una según frecuencia, tiempo, impacto, riesgo de error y esfuerzo.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01:20–03:05. En el Paso 1 identificarás tareas repetitivas y elegirás una oportunidad. En el Paso 2 ordenarás contactos, etapas y próximos pasos usando registros ficticios. En el Paso 3 crearás prompts para una necesidad real y definirás la revisión humana. En el Paso 4 representarás un flujo con disparador, entrada, validación, acción, salida y manejo de errores. En el Paso 5 diseñarás el recorrido desde que llega una consulta hasta la siguiente acción. En el Paso 6 definirás una versión mínima demostrable. En el Paso 7 completarás pruebas finales, compararás el antes y el después y construirás un roadmap de treinta días.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03:05–04:15. El workbook será tu hilo conductor. Comienza en la hoja Ruta. Completa tu nombre, el negocio o proyecto, el proceso que quieres trabajar y el resultado esperado. Después avanza por las pestañas del uno al siete. Cada módulo incluye una evidencia mínima y un estado. Cambia un módulo a completado solo cuando tengas una evidencia que otra persona pueda revisar. Guarda siempre una copia del workbook.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04:15–05:20. Antes de comenzar, recuerda estas cinco reglas. Documenta el proceso manual antes de automatizarlo. Prueba con datos ficticios. Mantén una salida humana para dudas y excepciones. Haz cambios pequeños y reversibles. Mide antes de concluir. No prometas ahorro ni mejoras sin comparar el proceso anterior con el nuevo. Automatizar significa reservar el criterio humano para decisiones, relaciones y excepciones.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05:20–06:20. Abre el workbook y escribe una tarea que realices varias veces por semana o por mes. Describe quién la inicia, qué información necesita y qué resultado debería producir. Luego responde qué parte consume más tiempo, dónde aparecen errores o retrasos y qué decisión requiere realmente una persona. No elijas todavía una herramienta. Cuando completes la ficha inicial, cambia el estado del Paso 1 a En curso.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06:20–06:45. Ya tienes el punto de partida: un proceso, un resultado esperado y una ruta para avanzar con seguridad. Ahora abre el Paso 1, Diagnóstico y priorización. Antes de automatizar, vamos a elegir correctamente qué vale la pena mejorar. Comencemos.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2acd90ad24fb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929566177d48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96c97f339e4d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4455fa296040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dd72cbc6ee4a6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eb8e15c314f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85E75C-F0C9-49C9-AB61-545347DB34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476F14-667E-4CF4-9F03-1309D31930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B56281F-8933-45D0-89EF-85B2B9629F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E20C3F7-5DCC-46A5-B821-BFEAC137C2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9D9E2F-93EE-4662-865F-68FEB88028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1712E8-617F-46A9-BE1C-3B7AD34BF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5EF7FD1-479B-49E2-8136-95800917F5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B2AD195-C2F5-4A56-AB88-119EBC23DD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14748D-7DBE-4B24-A2CE-DF771B101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9CAB4E6-4197-476E-AB1B-4EF2432D39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9b7370719f456c" /><Relationship Type="http://schemas.openxmlformats.org/officeDocument/2006/relationships/slideLayout" Target="/ppt/slideLayouts/slideLayout1.xml" Id="Rcd44f56938ac456c" /><Relationship Type="http://schemas.openxmlformats.org/officeDocument/2006/relationships/slideLayout" Target="/ppt/slideLayouts/slideLayout2.xml" Id="Rfd42ddb0e42d4ecc" /><Relationship Type="http://schemas.openxmlformats.org/officeDocument/2006/relationships/slideLayout" Target="/ppt/slideLayouts/slideLayout3.xml" Id="R418618dad9684af2" /><Relationship Type="http://schemas.openxmlformats.org/officeDocument/2006/relationships/slideLayout" Target="/ppt/slideLayouts/slideLayout4.xml" Id="Rdea7cf9552fc4d80" /><Relationship Type="http://schemas.openxmlformats.org/officeDocument/2006/relationships/slideLayout" Target="/ppt/slideLayouts/slideLayout5.xml" Id="R159ddc0ed3064f7a" /><Relationship Type="http://schemas.openxmlformats.org/officeDocument/2006/relationships/slideLayout" Target="/ppt/slideLayouts/slideLayout6.xml" Id="Ra5728297e77644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44f56938ac456c"/>
    <p:sldLayoutId xmlns:r="http://schemas.openxmlformats.org/officeDocument/2006/relationships" id="2147483650" r:id="Rfd42ddb0e42d4ecc"/>
    <p:sldLayoutId xmlns:r="http://schemas.openxmlformats.org/officeDocument/2006/relationships" id="2147483651" r:id="R418618dad9684af2"/>
    <p:sldLayoutId xmlns:r="http://schemas.openxmlformats.org/officeDocument/2006/relationships" id="2147483652" r:id="Rdea7cf9552fc4d80"/>
    <p:sldLayoutId xmlns:r="http://schemas.openxmlformats.org/officeDocument/2006/relationships" id="2147483653" r:id="R159ddc0ed3064f7a"/>
    <p:sldLayoutId xmlns:r="http://schemas.openxmlformats.org/officeDocument/2006/relationships" id="2147483654" r:id="Ra5728297e77644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295ed9fae249bb" /><Relationship Type="http://schemas.openxmlformats.org/officeDocument/2006/relationships/notesSlide" Target="/ppt/notesSlides/notesSlide1.xml" Id="R6f4321bd238644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592fc0dc534b73" /><Relationship Type="http://schemas.openxmlformats.org/officeDocument/2006/relationships/notesSlide" Target="/ppt/notesSlides/notesSlide2.xml" Id="R31f40c2ec0b044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0b6a3c99564e7f" /><Relationship Type="http://schemas.openxmlformats.org/officeDocument/2006/relationships/notesSlide" Target="/ppt/notesSlides/notesSlide3.xml" Id="Ra4f1e9c4399949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b152d58d2e4af5" /><Relationship Type="http://schemas.openxmlformats.org/officeDocument/2006/relationships/notesSlide" Target="/ppt/notesSlides/notesSlide4.xml" Id="R2e761cf24d794a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4359126ca44275" /><Relationship Type="http://schemas.openxmlformats.org/officeDocument/2006/relationships/notesSlide" Target="/ppt/notesSlides/notesSlide5.xml" Id="R32b59f85415743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4dc6895ccc4bb7" /><Relationship Type="http://schemas.openxmlformats.org/officeDocument/2006/relationships/notesSlide" Target="/ppt/notesSlides/notesSlide6.xml" Id="Ra881891d270149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1424100f294642" /><Relationship Type="http://schemas.openxmlformats.org/officeDocument/2006/relationships/notesSlide" Target="/ppt/notesSlides/notesSlide7.xml" Id="R444667afb0524e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63b725df5b4468" /><Relationship Type="http://schemas.openxmlformats.org/officeDocument/2006/relationships/notesSlide" Target="/ppt/notesSlides/notesSlide8.xml" Id="R1ad521ec5c7a4c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336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ver-cyan-band">
            <a:extLst xmlns:a="http://schemas.openxmlformats.org/drawingml/2006/main">
              <a:ext uri="{FF2B5EF4-FFF2-40B4-BE49-F238E27FC236}">
                <a16:creationId xmlns:a16="http://schemas.microsoft.com/office/drawing/2014/main" id="{4E369616-E627-4669-B3B0-B0B13EB9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F9C950F0-F3E1-48A4-B0A6-DDA8E212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762000"/>
            <a:ext cx="2381250" cy="238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57150">
            <a:solidFill>
              <a:srgbClr val="19A7CE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A880ECB6-F366-48D8-9FE5-9AFA4E0D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4" name="cover-dot">
            <a:extLst xmlns:a="http://schemas.openxmlformats.org/drawingml/2006/main">
              <a:ext uri="{FF2B5EF4-FFF2-40B4-BE49-F238E27FC236}">
                <a16:creationId xmlns:a16="http://schemas.microsoft.com/office/drawing/2014/main" id="{90EAA005-EAFF-4D0F-9629-4BC21E9B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brand">
            <a:extLst xmlns:a="http://schemas.openxmlformats.org/drawingml/2006/main">
              <a:ext uri="{FF2B5EF4-FFF2-40B4-BE49-F238E27FC236}">
                <a16:creationId xmlns:a16="http://schemas.microsoft.com/office/drawing/2014/main" id="{E51B7B6A-7CE4-4AD5-A18D-987BAA81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32F1F56-6238-4195-8027-3EB5CA78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7239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Automatiza tu Negocio</a:t>
            </a:r>
          </a:p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en 7 Pasos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43171-01DE-4346-A032-8E91F614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pPr>
            <a:r>
              <a:rPr sz="1875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rPr>
              <a:t>Bienvenida y ruta del programa</a:t>
            </a:r>
          </a:p>
        </p:txBody>
      </p:sp>
      <p:sp>
        <p:nvSpPr>
          <p:cNvPr id="8" name="cover-rule">
            <a:extLst xmlns:a="http://schemas.openxmlformats.org/drawingml/2006/main">
              <a:ext uri="{FF2B5EF4-FFF2-40B4-BE49-F238E27FC236}">
                <a16:creationId xmlns:a16="http://schemas.microsoft.com/office/drawing/2014/main" id="{5F66BF38-6D4A-49CC-A420-681577F2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meta">
            <a:extLst xmlns:a="http://schemas.openxmlformats.org/drawingml/2006/main">
              <a:ext uri="{FF2B5EF4-FFF2-40B4-BE49-F238E27FC236}">
                <a16:creationId xmlns:a16="http://schemas.microsoft.com/office/drawing/2014/main" id="{9401E044-C51A-42E1-8571-20DBBCB2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Video 00  ·  Presentación grabable  ·  v1</a:t>
            </a:r>
          </a:p>
        </p:txBody>
      </p:sp>
    </p:spTree>
    <p:extLst>
      <p:ext uri="{BB962C8B-B14F-4D97-AF65-F5344CB8AC3E}">
        <p14:creationId xmlns:p14="http://schemas.microsoft.com/office/powerpoint/2010/main" val="13852494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itle-2">
            <a:extLst xmlns:a="http://schemas.openxmlformats.org/drawingml/2006/main">
              <a:ext uri="{FF2B5EF4-FFF2-40B4-BE49-F238E27FC236}">
                <a16:creationId xmlns:a16="http://schemas.microsoft.com/office/drawing/2014/main" id="{F1FD45CC-1919-4794-A241-4EC00264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Evolución de una tarea repetitiva</a:t>
            </a:r>
          </a:p>
        </p:txBody>
      </p:sp>
      <p:sp>
        <p:nvSpPr>
          <p:cNvPr id="2" name="title-rule-2">
            <a:extLst xmlns:a="http://schemas.openxmlformats.org/drawingml/2006/main">
              <a:ext uri="{FF2B5EF4-FFF2-40B4-BE49-F238E27FC236}">
                <a16:creationId xmlns:a16="http://schemas.microsoft.com/office/drawing/2014/main" id="{6CD636FA-A652-45D7-89AE-1F9A4453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ransform-0">
            <a:extLst xmlns:a="http://schemas.openxmlformats.org/drawingml/2006/main">
              <a:ext uri="{FF2B5EF4-FFF2-40B4-BE49-F238E27FC236}">
                <a16:creationId xmlns:a16="http://schemas.microsoft.com/office/drawing/2014/main" id="{5C06FF51-E6F2-49FB-8EFF-639B4C6A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28575">
            <a:solidFill>
              <a:srgbClr val="003366"/>
            </a:solidFill>
            <a:prstDash val="solid"/>
          </a:ln>
        </p:spPr>
      </p:sp>
      <p:sp>
        <p:nvSpPr>
          <p:cNvPr id="4" name="transform-num-0">
            <a:extLst xmlns:a="http://schemas.openxmlformats.org/drawingml/2006/main">
              <a:ext uri="{FF2B5EF4-FFF2-40B4-BE49-F238E27FC236}">
                <a16:creationId xmlns:a16="http://schemas.microsoft.com/office/drawing/2014/main" id="{A81B572A-E70F-4B85-921D-67ED37F8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895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5" name="transform-label-0">
            <a:extLst xmlns:a="http://schemas.openxmlformats.org/drawingml/2006/main">
              <a:ext uri="{FF2B5EF4-FFF2-40B4-BE49-F238E27FC236}">
                <a16:creationId xmlns:a16="http://schemas.microsoft.com/office/drawing/2014/main" id="{6CF55C2A-98FD-4A96-AC83-E55695E9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7147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Tarea manual</a:t>
            </a:r>
          </a:p>
        </p:txBody>
      </p:sp>
      <p:sp>
        <p:nvSpPr>
          <p:cNvPr id="6" name="transform-desc-0">
            <a:extLst xmlns:a="http://schemas.openxmlformats.org/drawingml/2006/main">
              <a:ext uri="{FF2B5EF4-FFF2-40B4-BE49-F238E27FC236}">
                <a16:creationId xmlns:a16="http://schemas.microsoft.com/office/drawing/2014/main" id="{97D3DA7F-26FB-47CA-A480-5FC264E4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17195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Observa lo que ocurre hoy</a:t>
            </a:r>
          </a:p>
        </p:txBody>
      </p:sp>
      <p:sp>
        <p:nvSpPr>
          <p:cNvPr id="7" name="transform-line-0">
            <a:extLst xmlns:a="http://schemas.openxmlformats.org/drawingml/2006/main">
              <a:ext uri="{FF2B5EF4-FFF2-40B4-BE49-F238E27FC236}">
                <a16:creationId xmlns:a16="http://schemas.microsoft.com/office/drawing/2014/main" id="{028B04E2-DCC0-4444-9512-2D20B65A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908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ransform-1">
            <a:extLst xmlns:a="http://schemas.openxmlformats.org/drawingml/2006/main">
              <a:ext uri="{FF2B5EF4-FFF2-40B4-BE49-F238E27FC236}">
                <a16:creationId xmlns:a16="http://schemas.microsoft.com/office/drawing/2014/main" id="{B7D0A3C1-D84F-41EB-AFBB-06863FAF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28575">
            <a:solidFill>
              <a:srgbClr val="19A7CE"/>
            </a:solidFill>
            <a:prstDash val="solid"/>
          </a:ln>
        </p:spPr>
      </p:sp>
      <p:sp>
        <p:nvSpPr>
          <p:cNvPr id="9" name="transform-num-1">
            <a:extLst xmlns:a="http://schemas.openxmlformats.org/drawingml/2006/main">
              <a:ext uri="{FF2B5EF4-FFF2-40B4-BE49-F238E27FC236}">
                <a16:creationId xmlns:a16="http://schemas.microsoft.com/office/drawing/2014/main" id="{652276FF-4BAE-4707-A450-B3697F02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895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0" name="transform-label-1">
            <a:extLst xmlns:a="http://schemas.openxmlformats.org/drawingml/2006/main">
              <a:ext uri="{FF2B5EF4-FFF2-40B4-BE49-F238E27FC236}">
                <a16:creationId xmlns:a16="http://schemas.microsoft.com/office/drawing/2014/main" id="{F4BFE05D-5EAC-4A6C-909A-6279CFDF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7147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Proceso documentado</a:t>
            </a:r>
          </a:p>
        </p:txBody>
      </p:sp>
      <p:sp>
        <p:nvSpPr>
          <p:cNvPr id="11" name="transform-desc-1">
            <a:extLst xmlns:a="http://schemas.openxmlformats.org/drawingml/2006/main">
              <a:ext uri="{FF2B5EF4-FFF2-40B4-BE49-F238E27FC236}">
                <a16:creationId xmlns:a16="http://schemas.microsoft.com/office/drawing/2014/main" id="{54C8610C-32E9-4B49-810D-F0F350F2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17195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Aclara entradas, pasos y salida</a:t>
            </a:r>
          </a:p>
        </p:txBody>
      </p:sp>
      <p:sp>
        <p:nvSpPr>
          <p:cNvPr id="12" name="transform-line-1">
            <a:extLst xmlns:a="http://schemas.openxmlformats.org/drawingml/2006/main">
              <a:ext uri="{FF2B5EF4-FFF2-40B4-BE49-F238E27FC236}">
                <a16:creationId xmlns:a16="http://schemas.microsoft.com/office/drawing/2014/main" id="{CCD75542-CC63-4748-BF59-3AF92A6D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908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ransform-2">
            <a:extLst xmlns:a="http://schemas.openxmlformats.org/drawingml/2006/main">
              <a:ext uri="{FF2B5EF4-FFF2-40B4-BE49-F238E27FC236}">
                <a16:creationId xmlns:a16="http://schemas.microsoft.com/office/drawing/2014/main" id="{5957246A-2D39-4790-BCA2-6DE6CC32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717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28575">
            <a:solidFill>
              <a:srgbClr val="19A7CE"/>
            </a:solidFill>
            <a:prstDash val="solid"/>
          </a:ln>
        </p:spPr>
      </p:sp>
      <p:sp>
        <p:nvSpPr>
          <p:cNvPr id="14" name="transform-num-2">
            <a:extLst xmlns:a="http://schemas.openxmlformats.org/drawingml/2006/main">
              <a:ext uri="{FF2B5EF4-FFF2-40B4-BE49-F238E27FC236}">
                <a16:creationId xmlns:a16="http://schemas.microsoft.com/office/drawing/2014/main" id="{B73243C6-B11F-4F43-BD59-043475E0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81300"/>
            <a:ext cx="895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5" name="transform-label-2">
            <a:extLst xmlns:a="http://schemas.openxmlformats.org/drawingml/2006/main">
              <a:ext uri="{FF2B5EF4-FFF2-40B4-BE49-F238E27FC236}">
                <a16:creationId xmlns:a16="http://schemas.microsoft.com/office/drawing/2014/main" id="{6CEAB81A-1C6D-41AF-BB35-31017801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7147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Flujo probado</a:t>
            </a:r>
          </a:p>
        </p:txBody>
      </p:sp>
      <p:sp>
        <p:nvSpPr>
          <p:cNvPr id="16" name="transform-desc-2">
            <a:extLst xmlns:a="http://schemas.openxmlformats.org/drawingml/2006/main">
              <a:ext uri="{FF2B5EF4-FFF2-40B4-BE49-F238E27FC236}">
                <a16:creationId xmlns:a16="http://schemas.microsoft.com/office/drawing/2014/main" id="{BC81DBBB-3209-4ECD-89E1-87BC69FC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17195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Ensaya con datos ficticios</a:t>
            </a:r>
          </a:p>
        </p:txBody>
      </p:sp>
      <p:sp>
        <p:nvSpPr>
          <p:cNvPr id="17" name="transform-line-2">
            <a:extLst xmlns:a="http://schemas.openxmlformats.org/drawingml/2006/main">
              <a:ext uri="{FF2B5EF4-FFF2-40B4-BE49-F238E27FC236}">
                <a16:creationId xmlns:a16="http://schemas.microsoft.com/office/drawing/2014/main" id="{433F4ED1-5E8F-43BE-ACFD-D7D9DA44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908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ransform-3">
            <a:extLst xmlns:a="http://schemas.openxmlformats.org/drawingml/2006/main">
              <a:ext uri="{FF2B5EF4-FFF2-40B4-BE49-F238E27FC236}">
                <a16:creationId xmlns:a16="http://schemas.microsoft.com/office/drawing/2014/main" id="{520A91FA-3FBB-4138-B760-D883581E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28575">
            <a:solidFill>
              <a:srgbClr val="19A7CE"/>
            </a:solidFill>
            <a:prstDash val="solid"/>
          </a:ln>
        </p:spPr>
      </p:sp>
      <p:sp>
        <p:nvSpPr>
          <p:cNvPr id="19" name="transform-num-3">
            <a:extLst xmlns:a="http://schemas.openxmlformats.org/drawingml/2006/main">
              <a:ext uri="{FF2B5EF4-FFF2-40B4-BE49-F238E27FC236}">
                <a16:creationId xmlns:a16="http://schemas.microsoft.com/office/drawing/2014/main" id="{10F8EC83-3AD5-4EB2-84ED-3A9FA5FE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81300"/>
            <a:ext cx="895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20" name="transform-label-3">
            <a:extLst xmlns:a="http://schemas.openxmlformats.org/drawingml/2006/main">
              <a:ext uri="{FF2B5EF4-FFF2-40B4-BE49-F238E27FC236}">
                <a16:creationId xmlns:a16="http://schemas.microsoft.com/office/drawing/2014/main" id="{C984E839-87DA-4C50-90C6-A0AD5601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147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Resultado medido</a:t>
            </a:r>
          </a:p>
        </p:txBody>
      </p:sp>
      <p:sp>
        <p:nvSpPr>
          <p:cNvPr id="21" name="transform-desc-3">
            <a:extLst xmlns:a="http://schemas.openxmlformats.org/drawingml/2006/main">
              <a:ext uri="{FF2B5EF4-FFF2-40B4-BE49-F238E27FC236}">
                <a16:creationId xmlns:a16="http://schemas.microsoft.com/office/drawing/2014/main" id="{752B86C9-26BC-4B46-B8E9-C706D65D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7195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Compara antes y después</a:t>
            </a:r>
          </a:p>
        </p:txBody>
      </p:sp>
      <p:sp>
        <p:nvSpPr>
          <p:cNvPr id="22" name="transform-note">
            <a:extLst xmlns:a="http://schemas.openxmlformats.org/drawingml/2006/main">
              <a:ext uri="{FF2B5EF4-FFF2-40B4-BE49-F238E27FC236}">
                <a16:creationId xmlns:a16="http://schemas.microsoft.com/office/drawing/2014/main" id="{09F1FAEF-A9B2-4C59-BA37-A88CDA7D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91150"/>
            <a:ext cx="864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La meta es una primera solución entendible, verificable y reversible.</a:t>
            </a:r>
          </a:p>
        </p:txBody>
      </p:sp>
      <p:sp>
        <p:nvSpPr>
          <p:cNvPr id="23" name="brand-2">
            <a:extLst xmlns:a="http://schemas.openxmlformats.org/drawingml/2006/main">
              <a:ext uri="{FF2B5EF4-FFF2-40B4-BE49-F238E27FC236}">
                <a16:creationId xmlns:a16="http://schemas.microsoft.com/office/drawing/2014/main" id="{ECC29CE6-99CB-428D-97BA-4ED12DDB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  <p:sp>
        <p:nvSpPr>
          <p:cNvPr id="24" name="page-2">
            <a:extLst xmlns:a="http://schemas.openxmlformats.org/drawingml/2006/main">
              <a:ext uri="{FF2B5EF4-FFF2-40B4-BE49-F238E27FC236}">
                <a16:creationId xmlns:a16="http://schemas.microsoft.com/office/drawing/2014/main" id="{EAEF28FC-9BB9-4DAA-8883-7D458302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84192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3">
            <a:extLst xmlns:a="http://schemas.openxmlformats.org/drawingml/2006/main">
              <a:ext uri="{FF2B5EF4-FFF2-40B4-BE49-F238E27FC236}">
                <a16:creationId xmlns:a16="http://schemas.microsoft.com/office/drawing/2014/main" id="{DB3FE589-5BFC-4B82-BA67-7D6FB4DB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Un proceso será el hilo conductor</a:t>
            </a:r>
          </a:p>
        </p:txBody>
      </p:sp>
      <p:sp>
        <p:nvSpPr>
          <p:cNvPr id="2" name="title-rule-3">
            <a:extLst xmlns:a="http://schemas.openxmlformats.org/drawingml/2006/main">
              <a:ext uri="{FF2B5EF4-FFF2-40B4-BE49-F238E27FC236}">
                <a16:creationId xmlns:a16="http://schemas.microsoft.com/office/drawing/2014/main" id="{B0025E27-058F-4C75-8E8C-7C5D9883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ubtitle-3">
            <a:extLst xmlns:a="http://schemas.openxmlformats.org/drawingml/2006/main">
              <a:ext uri="{FF2B5EF4-FFF2-40B4-BE49-F238E27FC236}">
                <a16:creationId xmlns:a16="http://schemas.microsoft.com/office/drawing/2014/main" id="{BB28C347-1D6E-4ADA-BC33-C90F0015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Trabajarás el mismo caso desde el diagnóstico hasta el roadmap de 30 días.</a:t>
            </a:r>
          </a:p>
        </p:txBody>
      </p:sp>
      <p:sp>
        <p:nvSpPr>
          <p:cNvPr id="4" name="process-main">
            <a:extLst xmlns:a="http://schemas.openxmlformats.org/drawingml/2006/main">
              <a:ext uri="{FF2B5EF4-FFF2-40B4-BE49-F238E27FC236}">
                <a16:creationId xmlns:a16="http://schemas.microsoft.com/office/drawing/2014/main" id="{3D8701C5-84CA-4DC2-9962-FAD2949D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04394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F4F8"/>
            </a:solidFill>
            <a:prstDash val="solid"/>
          </a:ln>
        </p:spPr>
      </p:sp>
      <p:sp>
        <p:nvSpPr>
          <p:cNvPr id="5" name="process-example-label">
            <a:extLst xmlns:a="http://schemas.openxmlformats.org/drawingml/2006/main">
              <a:ext uri="{FF2B5EF4-FFF2-40B4-BE49-F238E27FC236}">
                <a16:creationId xmlns:a16="http://schemas.microsoft.com/office/drawing/2014/main" id="{0F98B84D-D834-470E-AE67-1E364C82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860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rPr>
              <a:t>EJEMPLO FICTICIO</a:t>
            </a:r>
          </a:p>
        </p:txBody>
      </p:sp>
      <p:sp>
        <p:nvSpPr>
          <p:cNvPr id="6" name="process-example">
            <a:extLst xmlns:a="http://schemas.openxmlformats.org/drawingml/2006/main">
              <a:ext uri="{FF2B5EF4-FFF2-40B4-BE49-F238E27FC236}">
                <a16:creationId xmlns:a16="http://schemas.microsoft.com/office/drawing/2014/main" id="{9E16FF1F-F34A-4DF1-B9CB-4B37662A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0515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40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Registrar una consulta y definir el siguiente paso</a:t>
            </a:r>
          </a:p>
        </p:txBody>
      </p:sp>
      <p:sp>
        <p:nvSpPr>
          <p:cNvPr id="7" name="process-start">
            <a:extLst xmlns:a="http://schemas.openxmlformats.org/drawingml/2006/main">
              <a:ext uri="{FF2B5EF4-FFF2-40B4-BE49-F238E27FC236}">
                <a16:creationId xmlns:a16="http://schemas.microsoft.com/office/drawing/2014/main" id="{A9D0D77E-330C-4D3C-B66A-4EDE4CF5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38600"/>
            <a:ext cx="447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cess-start-label">
            <a:extLst xmlns:a="http://schemas.openxmlformats.org/drawingml/2006/main">
              <a:ext uri="{FF2B5EF4-FFF2-40B4-BE49-F238E27FC236}">
                <a16:creationId xmlns:a16="http://schemas.microsoft.com/office/drawing/2014/main" id="{F22567AF-8C08-4F0D-9CC1-9BAE0854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29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Inicio: llega una consulta</a:t>
            </a:r>
          </a:p>
        </p:txBody>
      </p:sp>
      <p:sp>
        <p:nvSpPr>
          <p:cNvPr id="9" name="process-end">
            <a:extLst xmlns:a="http://schemas.openxmlformats.org/drawingml/2006/main">
              <a:ext uri="{FF2B5EF4-FFF2-40B4-BE49-F238E27FC236}">
                <a16:creationId xmlns:a16="http://schemas.microsoft.com/office/drawing/2014/main" id="{050AA26C-2DFD-4AF1-90B7-1F611714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447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cess-end-label">
            <a:extLst xmlns:a="http://schemas.openxmlformats.org/drawingml/2006/main">
              <a:ext uri="{FF2B5EF4-FFF2-40B4-BE49-F238E27FC236}">
                <a16:creationId xmlns:a16="http://schemas.microsoft.com/office/drawing/2014/main" id="{360FB55B-F618-4320-A2E9-FE5A28F3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Resultado: queda una acción asignada</a:t>
            </a:r>
          </a:p>
        </p:txBody>
      </p:sp>
      <p:sp>
        <p:nvSpPr>
          <p:cNvPr id="11" name="process-caption">
            <a:extLst xmlns:a="http://schemas.openxmlformats.org/drawingml/2006/main">
              <a:ext uri="{FF2B5EF4-FFF2-40B4-BE49-F238E27FC236}">
                <a16:creationId xmlns:a16="http://schemas.microsoft.com/office/drawing/2014/main" id="{B30DC43A-7F7C-48CE-90DF-4E77752E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24450"/>
            <a:ext cx="9753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En el Módulo 1 compararás varias opciones antes de confirmar tu caso.</a:t>
            </a:r>
          </a:p>
        </p:txBody>
      </p:sp>
      <p:sp>
        <p:nvSpPr>
          <p:cNvPr id="12" name="brand-3">
            <a:extLst xmlns:a="http://schemas.openxmlformats.org/drawingml/2006/main">
              <a:ext uri="{FF2B5EF4-FFF2-40B4-BE49-F238E27FC236}">
                <a16:creationId xmlns:a16="http://schemas.microsoft.com/office/drawing/2014/main" id="{383B62C0-54D2-4CD1-A133-A177ABBC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  <p:sp>
        <p:nvSpPr>
          <p:cNvPr id="13" name="page-3">
            <a:extLst xmlns:a="http://schemas.openxmlformats.org/drawingml/2006/main">
              <a:ext uri="{FF2B5EF4-FFF2-40B4-BE49-F238E27FC236}">
                <a16:creationId xmlns:a16="http://schemas.microsoft.com/office/drawing/2014/main" id="{7284C85E-3782-4C1D-9002-AC8CDE7B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197463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itle-4">
            <a:extLst xmlns:a="http://schemas.openxmlformats.org/drawingml/2006/main">
              <a:ext uri="{FF2B5EF4-FFF2-40B4-BE49-F238E27FC236}">
                <a16:creationId xmlns:a16="http://schemas.microsoft.com/office/drawing/2014/main" id="{8C7C2731-4409-4426-B0D4-6B3F1191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La ruta de siete pasos</a:t>
            </a:r>
          </a:p>
        </p:txBody>
      </p:sp>
      <p:sp>
        <p:nvSpPr>
          <p:cNvPr id="2" name="title-rule-4">
            <a:extLst xmlns:a="http://schemas.openxmlformats.org/drawingml/2006/main">
              <a:ext uri="{FF2B5EF4-FFF2-40B4-BE49-F238E27FC236}">
                <a16:creationId xmlns:a16="http://schemas.microsoft.com/office/drawing/2014/main" id="{C6DCE23B-EDEF-46F9-ACA9-EDB565A0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node-circle-1-92">
            <a:extLst xmlns:a="http://schemas.openxmlformats.org/drawingml/2006/main">
              <a:ext uri="{FF2B5EF4-FFF2-40B4-BE49-F238E27FC236}">
                <a16:creationId xmlns:a16="http://schemas.microsoft.com/office/drawing/2014/main" id="{814F7C58-CFD9-408D-9F18-1921098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ode-number-1-92">
            <a:extLst xmlns:a="http://schemas.openxmlformats.org/drawingml/2006/main">
              <a:ext uri="{FF2B5EF4-FFF2-40B4-BE49-F238E27FC236}">
                <a16:creationId xmlns:a16="http://schemas.microsoft.com/office/drawing/2014/main" id="{DFE251AE-53A4-471E-8EAA-74171219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5" name="node-label-1-92">
            <a:extLst xmlns:a="http://schemas.openxmlformats.org/drawingml/2006/main">
              <a:ext uri="{FF2B5EF4-FFF2-40B4-BE49-F238E27FC236}">
                <a16:creationId xmlns:a16="http://schemas.microsoft.com/office/drawing/2014/main" id="{BE3082D7-10EE-4194-9C5E-1F1B28C5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240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Diagnóstico</a:t>
            </a:r>
          </a:p>
        </p:txBody>
      </p:sp>
      <p:sp>
        <p:nvSpPr>
          <p:cNvPr id="6" name="node-circle-2-470">
            <a:extLst xmlns:a="http://schemas.openxmlformats.org/drawingml/2006/main">
              <a:ext uri="{FF2B5EF4-FFF2-40B4-BE49-F238E27FC236}">
                <a16:creationId xmlns:a16="http://schemas.microsoft.com/office/drawing/2014/main" id="{2A4B06C5-CDCC-490E-A357-79E871A4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764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node-number-2-470">
            <a:extLst xmlns:a="http://schemas.openxmlformats.org/drawingml/2006/main">
              <a:ext uri="{FF2B5EF4-FFF2-40B4-BE49-F238E27FC236}">
                <a16:creationId xmlns:a16="http://schemas.microsoft.com/office/drawing/2014/main" id="{6CA6925A-3D50-413C-977B-52B9EDE2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717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8" name="node-label-2-470">
            <a:extLst xmlns:a="http://schemas.openxmlformats.org/drawingml/2006/main">
              <a:ext uri="{FF2B5EF4-FFF2-40B4-BE49-F238E27FC236}">
                <a16:creationId xmlns:a16="http://schemas.microsoft.com/office/drawing/2014/main" id="{7C311043-8A3C-4929-9288-4B0ACF1F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240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CRM y ecosistema</a:t>
            </a:r>
          </a:p>
        </p:txBody>
      </p:sp>
      <p:sp>
        <p:nvSpPr>
          <p:cNvPr id="9" name="node-circle-3-848">
            <a:extLst xmlns:a="http://schemas.openxmlformats.org/drawingml/2006/main">
              <a:ext uri="{FF2B5EF4-FFF2-40B4-BE49-F238E27FC236}">
                <a16:creationId xmlns:a16="http://schemas.microsoft.com/office/drawing/2014/main" id="{099C61E4-557B-4E70-9C98-1C3EAB9D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764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ode-number-3-848">
            <a:extLst xmlns:a="http://schemas.openxmlformats.org/drawingml/2006/main">
              <a:ext uri="{FF2B5EF4-FFF2-40B4-BE49-F238E27FC236}">
                <a16:creationId xmlns:a16="http://schemas.microsoft.com/office/drawing/2014/main" id="{B10DAE01-6DB5-4824-A1E9-971AB9B4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1" name="node-label-3-848">
            <a:extLst xmlns:a="http://schemas.openxmlformats.org/drawingml/2006/main">
              <a:ext uri="{FF2B5EF4-FFF2-40B4-BE49-F238E27FC236}">
                <a16:creationId xmlns:a16="http://schemas.microsoft.com/office/drawing/2014/main" id="{22B82339-AA39-4A97-A640-99D75707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240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IA aplicada</a:t>
            </a:r>
          </a:p>
        </p:txBody>
      </p:sp>
      <p:sp>
        <p:nvSpPr>
          <p:cNvPr id="12" name="node-circle-4-92">
            <a:extLst xmlns:a="http://schemas.openxmlformats.org/drawingml/2006/main">
              <a:ext uri="{FF2B5EF4-FFF2-40B4-BE49-F238E27FC236}">
                <a16:creationId xmlns:a16="http://schemas.microsoft.com/office/drawing/2014/main" id="{6CA03E9F-DB89-4CF6-BA63-140B5E47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node-number-4-92">
            <a:extLst xmlns:a="http://schemas.openxmlformats.org/drawingml/2006/main">
              <a:ext uri="{FF2B5EF4-FFF2-40B4-BE49-F238E27FC236}">
                <a16:creationId xmlns:a16="http://schemas.microsoft.com/office/drawing/2014/main" id="{59F3DA75-2EB6-43D0-9D7D-88D4C59A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4" name="node-label-4-92">
            <a:extLst xmlns:a="http://schemas.openxmlformats.org/drawingml/2006/main">
              <a:ext uri="{FF2B5EF4-FFF2-40B4-BE49-F238E27FC236}">
                <a16:creationId xmlns:a16="http://schemas.microsoft.com/office/drawing/2014/main" id="{FD324563-0D6D-4765-9701-AEB7099D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n8n esencial</a:t>
            </a:r>
          </a:p>
        </p:txBody>
      </p:sp>
      <p:sp>
        <p:nvSpPr>
          <p:cNvPr id="15" name="node-circle-5-470">
            <a:extLst xmlns:a="http://schemas.openxmlformats.org/drawingml/2006/main">
              <a:ext uri="{FF2B5EF4-FFF2-40B4-BE49-F238E27FC236}">
                <a16:creationId xmlns:a16="http://schemas.microsoft.com/office/drawing/2014/main" id="{35E3021F-AF57-4253-8859-52B32F8E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ode-number-5-470">
            <a:extLst xmlns:a="http://schemas.openxmlformats.org/drawingml/2006/main">
              <a:ext uri="{FF2B5EF4-FFF2-40B4-BE49-F238E27FC236}">
                <a16:creationId xmlns:a16="http://schemas.microsoft.com/office/drawing/2014/main" id="{80CBFB69-037F-4088-81E6-B904CA5E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5</a:t>
            </a:r>
          </a:p>
        </p:txBody>
      </p:sp>
      <p:sp>
        <p:nvSpPr>
          <p:cNvPr id="17" name="node-label-5-470">
            <a:extLst xmlns:a="http://schemas.openxmlformats.org/drawingml/2006/main">
              <a:ext uri="{FF2B5EF4-FFF2-40B4-BE49-F238E27FC236}">
                <a16:creationId xmlns:a16="http://schemas.microsoft.com/office/drawing/2014/main" id="{C4C472A9-823F-4AFC-B774-46D1E143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765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Captación y seguimiento</a:t>
            </a:r>
          </a:p>
        </p:txBody>
      </p:sp>
      <p:sp>
        <p:nvSpPr>
          <p:cNvPr id="18" name="node-circle-6-848">
            <a:extLst xmlns:a="http://schemas.openxmlformats.org/drawingml/2006/main">
              <a:ext uri="{FF2B5EF4-FFF2-40B4-BE49-F238E27FC236}">
                <a16:creationId xmlns:a16="http://schemas.microsoft.com/office/drawing/2014/main" id="{783B9BFE-50EE-4851-8D0F-47A253B3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289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3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node-number-6-848">
            <a:extLst xmlns:a="http://schemas.openxmlformats.org/drawingml/2006/main">
              <a:ext uri="{FF2B5EF4-FFF2-40B4-BE49-F238E27FC236}">
                <a16:creationId xmlns:a16="http://schemas.microsoft.com/office/drawing/2014/main" id="{776364F2-360A-4963-A108-34A1D377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242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6</a:t>
            </a:r>
          </a:p>
        </p:txBody>
      </p:sp>
      <p:sp>
        <p:nvSpPr>
          <p:cNvPr id="20" name="node-label-6-848">
            <a:extLst xmlns:a="http://schemas.openxmlformats.org/drawingml/2006/main">
              <a:ext uri="{FF2B5EF4-FFF2-40B4-BE49-F238E27FC236}">
                <a16:creationId xmlns:a16="http://schemas.microsoft.com/office/drawing/2014/main" id="{80D2C353-A552-4154-B9E2-76C041C5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765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MVP</a:t>
            </a:r>
          </a:p>
        </p:txBody>
      </p:sp>
      <p:sp>
        <p:nvSpPr>
          <p:cNvPr id="21" name="node-circle-7-92">
            <a:extLst xmlns:a="http://schemas.openxmlformats.org/drawingml/2006/main">
              <a:ext uri="{FF2B5EF4-FFF2-40B4-BE49-F238E27FC236}">
                <a16:creationId xmlns:a16="http://schemas.microsoft.com/office/drawing/2014/main" id="{5A27C855-DA89-4917-AF6B-B90E477D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node-number-7-92">
            <a:extLst xmlns:a="http://schemas.openxmlformats.org/drawingml/2006/main">
              <a:ext uri="{FF2B5EF4-FFF2-40B4-BE49-F238E27FC236}">
                <a16:creationId xmlns:a16="http://schemas.microsoft.com/office/drawing/2014/main" id="{996CC4A5-74C7-4389-8659-4D852BBE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7</a:t>
            </a:r>
          </a:p>
        </p:txBody>
      </p:sp>
      <p:sp>
        <p:nvSpPr>
          <p:cNvPr id="23" name="node-label-7-92">
            <a:extLst xmlns:a="http://schemas.openxmlformats.org/drawingml/2006/main">
              <a:ext uri="{FF2B5EF4-FFF2-40B4-BE49-F238E27FC236}">
                <a16:creationId xmlns:a16="http://schemas.microsoft.com/office/drawing/2014/main" id="{4727898D-1522-435F-B1FF-1AC3359D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290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Implementación y mejora</a:t>
            </a:r>
          </a:p>
        </p:txBody>
      </p:sp>
      <p:sp>
        <p:nvSpPr>
          <p:cNvPr id="24" name="route-result">
            <a:extLst xmlns:a="http://schemas.openxmlformats.org/drawingml/2006/main">
              <a:ext uri="{FF2B5EF4-FFF2-40B4-BE49-F238E27FC236}">
                <a16:creationId xmlns:a16="http://schemas.microsoft.com/office/drawing/2014/main" id="{CBE80791-4145-4007-A735-BB45CB18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339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0878A8"/>
                </a:solidFill>
                <a:latin typeface="Nimbus Sans"/>
                <a:ea typeface="Nimbus Sans"/>
                <a:cs typeface="Nimbus Sans"/>
              </a:rPr>
              <a:t>Resultado final</a:t>
            </a:r>
          </a:p>
        </p:txBody>
      </p:sp>
      <p:sp>
        <p:nvSpPr>
          <p:cNvPr id="25" name="route-result-copy">
            <a:extLst xmlns:a="http://schemas.openxmlformats.org/drawingml/2006/main">
              <a:ext uri="{FF2B5EF4-FFF2-40B4-BE49-F238E27FC236}">
                <a16:creationId xmlns:a16="http://schemas.microsoft.com/office/drawing/2014/main" id="{DE942F68-E065-4824-821F-361F65D3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2578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Un sistema mínimo probado y un roadmap de 30 días</a:t>
            </a:r>
          </a:p>
        </p:txBody>
      </p:sp>
      <p:sp>
        <p:nvSpPr>
          <p:cNvPr id="26" name="brand-4">
            <a:extLst xmlns:a="http://schemas.openxmlformats.org/drawingml/2006/main">
              <a:ext uri="{FF2B5EF4-FFF2-40B4-BE49-F238E27FC236}">
                <a16:creationId xmlns:a16="http://schemas.microsoft.com/office/drawing/2014/main" id="{7D24D926-9818-4660-9625-58376D43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  <p:sp>
        <p:nvSpPr>
          <p:cNvPr id="27" name="page-4">
            <a:extLst xmlns:a="http://schemas.openxmlformats.org/drawingml/2006/main">
              <a:ext uri="{FF2B5EF4-FFF2-40B4-BE49-F238E27FC236}">
                <a16:creationId xmlns:a16="http://schemas.microsoft.com/office/drawing/2014/main" id="{6A10F6F3-FC2B-4E9A-BE76-D6475860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399025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5">
            <a:extLst xmlns:a="http://schemas.openxmlformats.org/drawingml/2006/main">
              <a:ext uri="{FF2B5EF4-FFF2-40B4-BE49-F238E27FC236}">
                <a16:creationId xmlns:a16="http://schemas.microsoft.com/office/drawing/2014/main" id="{0D988CC7-7405-4045-BB03-5B68E182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El workbook registra tus decisiones</a:t>
            </a:r>
          </a:p>
        </p:txBody>
      </p:sp>
      <p:sp>
        <p:nvSpPr>
          <p:cNvPr id="2" name="title-rule-5">
            <a:extLst xmlns:a="http://schemas.openxmlformats.org/drawingml/2006/main">
              <a:ext uri="{FF2B5EF4-FFF2-40B4-BE49-F238E27FC236}">
                <a16:creationId xmlns:a16="http://schemas.microsoft.com/office/drawing/2014/main" id="{FC9377DD-888D-4A43-910B-94A5FA2A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ubtitle-5">
            <a:extLst xmlns:a="http://schemas.openxmlformats.org/drawingml/2006/main">
              <a:ext uri="{FF2B5EF4-FFF2-40B4-BE49-F238E27FC236}">
                <a16:creationId xmlns:a16="http://schemas.microsoft.com/office/drawing/2014/main" id="{D11BFE88-6ED9-46D9-8AB8-151B592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Comienza en la hoja Ruta y conserva una copia durante todo el programa.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9F8AA-DE4D-4265-97DD-9A1777A86FAE}"/>
              </a:ext>
            </a:extLst>
          </p:cNvPr>
          <p:cNvGraphicFramePr/>
          <p:nvPr/>
        </p:nvGraphicFramePr>
        <p:xfrm>
          <a:off xmlns:a="http://schemas.openxmlformats.org/drawingml/2006/main" x="1123950" y="2228850"/>
          <a:ext xmlns:a="http://schemas.openxmlformats.org/drawingml/2006/main" cx="72390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857750"/>
              </a:tblGrid>
              <a:tr h="5905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Campo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AF4F8"/>
                      </a:solidFill>
                      <a:prstDash val="solid"/>
                    </a:lnL>
                    <a:lnR w="9525">
                      <a:solidFill>
                        <a:srgbClr val="EAF4F8"/>
                      </a:solidFill>
                      <a:prstDash val="solid"/>
                    </a:lnR>
                    <a:lnT w="9525">
                      <a:solidFill>
                        <a:srgbClr val="EAF4F8"/>
                      </a:solidFill>
                      <a:prstDash val="solid"/>
                    </a:lnT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Ejemplo ficticio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AF4F8"/>
                      </a:solidFill>
                      <a:prstDash val="solid"/>
                    </a:lnR>
                    <a:lnT w="9525">
                      <a:solidFill>
                        <a:srgbClr val="EAF4F8"/>
                      </a:solidFill>
                      <a:prstDash val="solid"/>
                    </a:lnT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00336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3366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Nombre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AF4F8"/>
                      </a:solidFill>
                      <a:prstDash val="solid"/>
                    </a:lnL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32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Participante Demo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3366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Negocio o proyecto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AF4F8"/>
                      </a:solidFill>
                      <a:prstDash val="solid"/>
                    </a:lnL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32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Taller Horizonte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3366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Proceso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AF4F8"/>
                      </a:solidFill>
                      <a:prstDash val="solid"/>
                    </a:lnL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32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Registrar consultas y definir seguimiento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3366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Resultado esperado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EAF4F8"/>
                      </a:solidFill>
                      <a:prstDash val="solid"/>
                    </a:lnL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32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Reducir registros incompletos en la prueba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EAF4F8"/>
                      </a:solidFill>
                      <a:prstDash val="solid"/>
                    </a:lnR>
                    <a:lnB w="9525">
                      <a:solidFill>
                        <a:srgbClr val="EAF4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workbook-status-circle">
            <a:extLst xmlns:a="http://schemas.openxmlformats.org/drawingml/2006/main">
              <a:ext uri="{FF2B5EF4-FFF2-40B4-BE49-F238E27FC236}">
                <a16:creationId xmlns:a16="http://schemas.microsoft.com/office/drawing/2014/main" id="{536794EB-D032-426E-8970-54D54346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78130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book-status">
            <a:extLst xmlns:a="http://schemas.openxmlformats.org/drawingml/2006/main">
              <a:ext uri="{FF2B5EF4-FFF2-40B4-BE49-F238E27FC236}">
                <a16:creationId xmlns:a16="http://schemas.microsoft.com/office/drawing/2014/main" id="{1C226725-D545-465B-BAD1-3E521178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00990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EN</a:t>
            </a:r>
          </a:p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CURSO</a:t>
            </a:r>
          </a:p>
        </p:txBody>
      </p:sp>
      <p:sp>
        <p:nvSpPr>
          <p:cNvPr id="7" name="workbook-status-copy">
            <a:extLst xmlns:a="http://schemas.openxmlformats.org/drawingml/2006/main">
              <a:ext uri="{FF2B5EF4-FFF2-40B4-BE49-F238E27FC236}">
                <a16:creationId xmlns:a16="http://schemas.microsoft.com/office/drawing/2014/main" id="{FE3C5BC3-21ED-46DE-B059-93ADC61A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719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Marca Completado solo cuando exista una evidencia revisable.</a:t>
            </a:r>
          </a:p>
        </p:txBody>
      </p:sp>
      <p:sp>
        <p:nvSpPr>
          <p:cNvPr id="8" name="brand-5">
            <a:extLst xmlns:a="http://schemas.openxmlformats.org/drawingml/2006/main">
              <a:ext uri="{FF2B5EF4-FFF2-40B4-BE49-F238E27FC236}">
                <a16:creationId xmlns:a16="http://schemas.microsoft.com/office/drawing/2014/main" id="{BEAD672A-FC4F-4E3F-8ED2-AA4504C4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  <p:sp>
        <p:nvSpPr>
          <p:cNvPr id="9" name="page-5">
            <a:extLst xmlns:a="http://schemas.openxmlformats.org/drawingml/2006/main">
              <a:ext uri="{FF2B5EF4-FFF2-40B4-BE49-F238E27FC236}">
                <a16:creationId xmlns:a16="http://schemas.microsoft.com/office/drawing/2014/main" id="{49975CA1-9757-4CFE-93C5-86D6AB65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348266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22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afety-title">
            <a:extLst xmlns:a="http://schemas.openxmlformats.org/drawingml/2006/main">
              <a:ext uri="{FF2B5EF4-FFF2-40B4-BE49-F238E27FC236}">
                <a16:creationId xmlns:a16="http://schemas.microsoft.com/office/drawing/2014/main" id="{F58B3950-7775-4CE1-AC0F-042636F2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Cinco reglas para practicar con seguridad</a:t>
            </a:r>
          </a:p>
        </p:txBody>
      </p:sp>
      <p:sp>
        <p:nvSpPr>
          <p:cNvPr id="2" name="safety-rule">
            <a:extLst xmlns:a="http://schemas.openxmlformats.org/drawingml/2006/main">
              <a:ext uri="{FF2B5EF4-FFF2-40B4-BE49-F238E27FC236}">
                <a16:creationId xmlns:a16="http://schemas.microsoft.com/office/drawing/2014/main" id="{5566D010-99D1-4409-9685-B36B55C4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afety-circle-0">
            <a:extLst xmlns:a="http://schemas.openxmlformats.org/drawingml/2006/main">
              <a:ext uri="{FF2B5EF4-FFF2-40B4-BE49-F238E27FC236}">
                <a16:creationId xmlns:a16="http://schemas.microsoft.com/office/drawing/2014/main" id="{BA19E2D4-043B-45EF-948F-F0CACEB0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afety-num-0">
            <a:extLst xmlns:a="http://schemas.openxmlformats.org/drawingml/2006/main">
              <a:ext uri="{FF2B5EF4-FFF2-40B4-BE49-F238E27FC236}">
                <a16:creationId xmlns:a16="http://schemas.microsoft.com/office/drawing/2014/main" id="{989646FE-825C-405F-84A9-2FDA67F0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5" name="safety-label-0">
            <a:extLst xmlns:a="http://schemas.openxmlformats.org/drawingml/2006/main">
              <a:ext uri="{FF2B5EF4-FFF2-40B4-BE49-F238E27FC236}">
                <a16:creationId xmlns:a16="http://schemas.microsoft.com/office/drawing/2014/main" id="{E2DAB7D1-ADAD-4454-BE68-9F32536F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857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Documentar antes de conectar</a:t>
            </a:r>
          </a:p>
        </p:txBody>
      </p:sp>
      <p:sp>
        <p:nvSpPr>
          <p:cNvPr id="6" name="safety-copy-0">
            <a:extLst xmlns:a="http://schemas.openxmlformats.org/drawingml/2006/main">
              <a:ext uri="{FF2B5EF4-FFF2-40B4-BE49-F238E27FC236}">
                <a16:creationId xmlns:a16="http://schemas.microsoft.com/office/drawing/2014/main" id="{A035BC52-856A-4A05-A0BE-33F2BE23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8669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rPr>
              <a:t>Describe primero el proceso manual.</a:t>
            </a:r>
          </a:p>
        </p:txBody>
      </p:sp>
      <p:sp>
        <p:nvSpPr>
          <p:cNvPr id="7" name="safety-circle-1">
            <a:extLst xmlns:a="http://schemas.openxmlformats.org/drawingml/2006/main">
              <a:ext uri="{FF2B5EF4-FFF2-40B4-BE49-F238E27FC236}">
                <a16:creationId xmlns:a16="http://schemas.microsoft.com/office/drawing/2014/main" id="{BBBA4B33-F30C-45B4-9606-811F5095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afety-num-1">
            <a:extLst xmlns:a="http://schemas.openxmlformats.org/drawingml/2006/main">
              <a:ext uri="{FF2B5EF4-FFF2-40B4-BE49-F238E27FC236}">
                <a16:creationId xmlns:a16="http://schemas.microsoft.com/office/drawing/2014/main" id="{B136456F-1D87-46E5-9B24-05F5CA4F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9" name="safety-label-1">
            <a:extLst xmlns:a="http://schemas.openxmlformats.org/drawingml/2006/main">
              <a:ext uri="{FF2B5EF4-FFF2-40B4-BE49-F238E27FC236}">
                <a16:creationId xmlns:a16="http://schemas.microsoft.com/office/drawing/2014/main" id="{110E4F18-6D3C-456A-999F-43EB25D1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574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Datos ficticios primero</a:t>
            </a:r>
          </a:p>
        </p:txBody>
      </p:sp>
      <p:sp>
        <p:nvSpPr>
          <p:cNvPr id="10" name="safety-copy-1">
            <a:extLst xmlns:a="http://schemas.openxmlformats.org/drawingml/2006/main">
              <a:ext uri="{FF2B5EF4-FFF2-40B4-BE49-F238E27FC236}">
                <a16:creationId xmlns:a16="http://schemas.microsoft.com/office/drawing/2014/main" id="{4B646ADF-E7F2-4868-9996-09518AB9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6670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rPr>
              <a:t>No uses información personal, credenciales ni pagos.</a:t>
            </a:r>
          </a:p>
        </p:txBody>
      </p:sp>
      <p:sp>
        <p:nvSpPr>
          <p:cNvPr id="11" name="safety-circle-2">
            <a:extLst xmlns:a="http://schemas.openxmlformats.org/drawingml/2006/main">
              <a:ext uri="{FF2B5EF4-FFF2-40B4-BE49-F238E27FC236}">
                <a16:creationId xmlns:a16="http://schemas.microsoft.com/office/drawing/2014/main" id="{AC00EA91-A032-40AC-BE1F-571E97D0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67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afety-num-2">
            <a:extLst xmlns:a="http://schemas.openxmlformats.org/drawingml/2006/main">
              <a:ext uri="{FF2B5EF4-FFF2-40B4-BE49-F238E27FC236}">
                <a16:creationId xmlns:a16="http://schemas.microsoft.com/office/drawing/2014/main" id="{083E913D-A5FC-4744-88F0-606D7A3A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43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3" name="safety-label-2">
            <a:extLst xmlns:a="http://schemas.openxmlformats.org/drawingml/2006/main">
              <a:ext uri="{FF2B5EF4-FFF2-40B4-BE49-F238E27FC236}">
                <a16:creationId xmlns:a16="http://schemas.microsoft.com/office/drawing/2014/main" id="{F5AD6706-C8A9-44E2-9FE1-D41904ED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575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Revisión humana</a:t>
            </a:r>
          </a:p>
        </p:txBody>
      </p:sp>
      <p:sp>
        <p:nvSpPr>
          <p:cNvPr id="14" name="safety-copy-2">
            <a:extLst xmlns:a="http://schemas.openxmlformats.org/drawingml/2006/main">
              <a:ext uri="{FF2B5EF4-FFF2-40B4-BE49-F238E27FC236}">
                <a16:creationId xmlns:a16="http://schemas.microsoft.com/office/drawing/2014/main" id="{6B32FB34-C972-4953-913E-B2582E20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4671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rPr>
              <a:t>Una persona resuelve dudas, errores y excepciones.</a:t>
            </a:r>
          </a:p>
        </p:txBody>
      </p:sp>
      <p:sp>
        <p:nvSpPr>
          <p:cNvPr id="15" name="safety-circle-3">
            <a:extLst xmlns:a="http://schemas.openxmlformats.org/drawingml/2006/main">
              <a:ext uri="{FF2B5EF4-FFF2-40B4-BE49-F238E27FC236}">
                <a16:creationId xmlns:a16="http://schemas.microsoft.com/office/drawing/2014/main" id="{5872212A-5D00-44C8-A10C-6F58730B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672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afety-num-3">
            <a:extLst xmlns:a="http://schemas.openxmlformats.org/drawingml/2006/main">
              <a:ext uri="{FF2B5EF4-FFF2-40B4-BE49-F238E27FC236}">
                <a16:creationId xmlns:a16="http://schemas.microsoft.com/office/drawing/2014/main" id="{73997706-4CE2-4C6F-9CA7-9DB5234E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4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7" name="safety-label-3">
            <a:extLst xmlns:a="http://schemas.openxmlformats.org/drawingml/2006/main">
              <a:ext uri="{FF2B5EF4-FFF2-40B4-BE49-F238E27FC236}">
                <a16:creationId xmlns:a16="http://schemas.microsoft.com/office/drawing/2014/main" id="{58988CA3-361B-430A-898D-DBE64732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576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Cambios reversibles</a:t>
            </a:r>
          </a:p>
        </p:txBody>
      </p:sp>
      <p:sp>
        <p:nvSpPr>
          <p:cNvPr id="18" name="safety-copy-3">
            <a:extLst xmlns:a="http://schemas.openxmlformats.org/drawingml/2006/main">
              <a:ext uri="{FF2B5EF4-FFF2-40B4-BE49-F238E27FC236}">
                <a16:creationId xmlns:a16="http://schemas.microsoft.com/office/drawing/2014/main" id="{E1E8A572-964C-42CB-A5C5-64EBDF32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2672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rPr>
              <a:t>Conserva respaldos y registra cada modificación.</a:t>
            </a:r>
          </a:p>
        </p:txBody>
      </p:sp>
      <p:sp>
        <p:nvSpPr>
          <p:cNvPr id="19" name="safety-circle-4">
            <a:extLst xmlns:a="http://schemas.openxmlformats.org/drawingml/2006/main">
              <a:ext uri="{FF2B5EF4-FFF2-40B4-BE49-F238E27FC236}">
                <a16:creationId xmlns:a16="http://schemas.microsoft.com/office/drawing/2014/main" id="{41EB137C-C5BA-4308-B23A-44D9EBE0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8F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afety-num-4">
            <a:extLst xmlns:a="http://schemas.openxmlformats.org/drawingml/2006/main">
              <a:ext uri="{FF2B5EF4-FFF2-40B4-BE49-F238E27FC236}">
                <a16:creationId xmlns:a16="http://schemas.microsoft.com/office/drawing/2014/main" id="{2492C3CE-0F26-4B2D-A8B3-783D91C6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5</a:t>
            </a:r>
          </a:p>
        </p:txBody>
      </p:sp>
      <p:sp>
        <p:nvSpPr>
          <p:cNvPr id="21" name="safety-label-4">
            <a:extLst xmlns:a="http://schemas.openxmlformats.org/drawingml/2006/main">
              <a:ext uri="{FF2B5EF4-FFF2-40B4-BE49-F238E27FC236}">
                <a16:creationId xmlns:a16="http://schemas.microsoft.com/office/drawing/2014/main" id="{C4AA524C-F47E-44C4-A44E-B9853351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0577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Medir antes de afirmar</a:t>
            </a:r>
          </a:p>
        </p:txBody>
      </p:sp>
      <p:sp>
        <p:nvSpPr>
          <p:cNvPr id="22" name="safety-copy-4">
            <a:extLst xmlns:a="http://schemas.openxmlformats.org/drawingml/2006/main">
              <a:ext uri="{FF2B5EF4-FFF2-40B4-BE49-F238E27FC236}">
                <a16:creationId xmlns:a16="http://schemas.microsoft.com/office/drawing/2014/main" id="{26F94E0B-C9A8-4F38-8CA5-85098CA3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673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rPr>
              <a:t>Compara la línea base con una prueba equivalente.</a:t>
            </a:r>
          </a:p>
        </p:txBody>
      </p:sp>
      <p:sp>
        <p:nvSpPr>
          <p:cNvPr id="23" name="brand-6">
            <a:extLst xmlns:a="http://schemas.openxmlformats.org/drawingml/2006/main">
              <a:ext uri="{FF2B5EF4-FFF2-40B4-BE49-F238E27FC236}">
                <a16:creationId xmlns:a16="http://schemas.microsoft.com/office/drawing/2014/main" id="{3E3296E7-B4C0-4FBB-8976-876E7C54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  <p:sp>
        <p:nvSpPr>
          <p:cNvPr id="24" name="page-6">
            <a:extLst xmlns:a="http://schemas.openxmlformats.org/drawingml/2006/main">
              <a:ext uri="{FF2B5EF4-FFF2-40B4-BE49-F238E27FC236}">
                <a16:creationId xmlns:a16="http://schemas.microsoft.com/office/drawing/2014/main" id="{8A540C82-9768-4FC0-B7C7-9C6B7823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7518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7">
            <a:extLst xmlns:a="http://schemas.openxmlformats.org/drawingml/2006/main">
              <a:ext uri="{FF2B5EF4-FFF2-40B4-BE49-F238E27FC236}">
                <a16:creationId xmlns:a16="http://schemas.microsoft.com/office/drawing/2014/main" id="{8C17A4A7-2D61-4974-9903-D762404C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28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Primera actividad</a:t>
            </a:r>
          </a:p>
        </p:txBody>
      </p:sp>
      <p:sp>
        <p:nvSpPr>
          <p:cNvPr id="2" name="title-rule-7">
            <a:extLst xmlns:a="http://schemas.openxmlformats.org/drawingml/2006/main">
              <a:ext uri="{FF2B5EF4-FFF2-40B4-BE49-F238E27FC236}">
                <a16:creationId xmlns:a16="http://schemas.microsoft.com/office/drawing/2014/main" id="{B65E0F18-9A4B-40EB-9F33-967E10CC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4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ubtitle-7">
            <a:extLst xmlns:a="http://schemas.openxmlformats.org/drawingml/2006/main">
              <a:ext uri="{FF2B5EF4-FFF2-40B4-BE49-F238E27FC236}">
                <a16:creationId xmlns:a16="http://schemas.microsoft.com/office/drawing/2014/main" id="{3CBB1CD9-AB82-4280-8D28-91D66824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Completa la hoja Ruta antes de comenzar el diagnóstico.</a:t>
            </a:r>
          </a:p>
        </p:txBody>
      </p:sp>
      <p:sp>
        <p:nvSpPr>
          <p:cNvPr id="4" name="activity-num-0">
            <a:extLst xmlns:a="http://schemas.openxmlformats.org/drawingml/2006/main">
              <a:ext uri="{FF2B5EF4-FFF2-40B4-BE49-F238E27FC236}">
                <a16:creationId xmlns:a16="http://schemas.microsoft.com/office/drawing/2014/main" id="{11196B7E-C9BF-4CC3-8A1F-39C8D0D9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rPr>
              <a:t>01</a:t>
            </a:r>
          </a:p>
        </p:txBody>
      </p:sp>
      <p:sp>
        <p:nvSpPr>
          <p:cNvPr id="5" name="activity-label-0">
            <a:extLst xmlns:a="http://schemas.openxmlformats.org/drawingml/2006/main">
              <a:ext uri="{FF2B5EF4-FFF2-40B4-BE49-F238E27FC236}">
                <a16:creationId xmlns:a16="http://schemas.microsoft.com/office/drawing/2014/main" id="{A59974ED-F8C5-45E8-B22B-DF0009F9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1526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Tarea repetitiva</a:t>
            </a:r>
          </a:p>
        </p:txBody>
      </p:sp>
      <p:sp>
        <p:nvSpPr>
          <p:cNvPr id="6" name="activity-copy-0">
            <a:extLst xmlns:a="http://schemas.openxmlformats.org/drawingml/2006/main">
              <a:ext uri="{FF2B5EF4-FFF2-40B4-BE49-F238E27FC236}">
                <a16:creationId xmlns:a16="http://schemas.microsoft.com/office/drawing/2014/main" id="{C7A83312-C6D2-4E4C-BB5E-9024DB10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7170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¿Qué haces varias veces por semana o por mes?</a:t>
            </a:r>
          </a:p>
        </p:txBody>
      </p:sp>
      <p:sp>
        <p:nvSpPr>
          <p:cNvPr id="7" name="activity-line-0">
            <a:extLst xmlns:a="http://schemas.openxmlformats.org/drawingml/2006/main">
              <a:ext uri="{FF2B5EF4-FFF2-40B4-BE49-F238E27FC236}">
                <a16:creationId xmlns:a16="http://schemas.microsoft.com/office/drawing/2014/main" id="{B19D6F5F-406F-44C8-8702-62C69F09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609850"/>
            <a:ext cx="918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ctivity-num-1">
            <a:extLst xmlns:a="http://schemas.openxmlformats.org/drawingml/2006/main">
              <a:ext uri="{FF2B5EF4-FFF2-40B4-BE49-F238E27FC236}">
                <a16:creationId xmlns:a16="http://schemas.microsoft.com/office/drawing/2014/main" id="{0E5982B5-6DC4-4E04-9C31-02034E9B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71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9" name="activity-label-1">
            <a:extLst xmlns:a="http://schemas.openxmlformats.org/drawingml/2006/main">
              <a:ext uri="{FF2B5EF4-FFF2-40B4-BE49-F238E27FC236}">
                <a16:creationId xmlns:a16="http://schemas.microsoft.com/office/drawing/2014/main" id="{0B11AFBF-DCC0-49E0-8224-135631E3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33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Inicio</a:t>
            </a:r>
          </a:p>
        </p:txBody>
      </p:sp>
      <p:sp>
        <p:nvSpPr>
          <p:cNvPr id="10" name="activity-copy-1">
            <a:extLst xmlns:a="http://schemas.openxmlformats.org/drawingml/2006/main">
              <a:ext uri="{FF2B5EF4-FFF2-40B4-BE49-F238E27FC236}">
                <a16:creationId xmlns:a16="http://schemas.microsoft.com/office/drawing/2014/main" id="{F6052A21-A4EE-4E91-883E-9F3072C1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27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¿Quién o qué inicia el proceso?</a:t>
            </a:r>
          </a:p>
        </p:txBody>
      </p:sp>
      <p:sp>
        <p:nvSpPr>
          <p:cNvPr id="11" name="activity-line-1">
            <a:extLst xmlns:a="http://schemas.openxmlformats.org/drawingml/2006/main">
              <a:ext uri="{FF2B5EF4-FFF2-40B4-BE49-F238E27FC236}">
                <a16:creationId xmlns:a16="http://schemas.microsoft.com/office/drawing/2014/main" id="{38CA097B-604B-40EA-80DD-3DF97093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90900"/>
            <a:ext cx="918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ctivity-num-2">
            <a:extLst xmlns:a="http://schemas.openxmlformats.org/drawingml/2006/main">
              <a:ext uri="{FF2B5EF4-FFF2-40B4-BE49-F238E27FC236}">
                <a16:creationId xmlns:a16="http://schemas.microsoft.com/office/drawing/2014/main" id="{27698B16-3A77-468D-815A-21B965A5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52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13" name="activity-label-2">
            <a:extLst xmlns:a="http://schemas.openxmlformats.org/drawingml/2006/main">
              <a:ext uri="{FF2B5EF4-FFF2-40B4-BE49-F238E27FC236}">
                <a16:creationId xmlns:a16="http://schemas.microsoft.com/office/drawing/2014/main" id="{891AC041-6F78-44E1-89F6-108C37B2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14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Información</a:t>
            </a:r>
          </a:p>
        </p:txBody>
      </p:sp>
      <p:sp>
        <p:nvSpPr>
          <p:cNvPr id="14" name="activity-copy-2">
            <a:extLst xmlns:a="http://schemas.openxmlformats.org/drawingml/2006/main">
              <a:ext uri="{FF2B5EF4-FFF2-40B4-BE49-F238E27FC236}">
                <a16:creationId xmlns:a16="http://schemas.microsoft.com/office/drawing/2014/main" id="{B4366018-495B-4ECB-8918-764FDB3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3380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¿Qué necesita el proceso para comenzar?</a:t>
            </a:r>
          </a:p>
        </p:txBody>
      </p:sp>
      <p:sp>
        <p:nvSpPr>
          <p:cNvPr id="15" name="activity-line-2">
            <a:extLst xmlns:a="http://schemas.openxmlformats.org/drawingml/2006/main">
              <a:ext uri="{FF2B5EF4-FFF2-40B4-BE49-F238E27FC236}">
                <a16:creationId xmlns:a16="http://schemas.microsoft.com/office/drawing/2014/main" id="{54378C19-7EFE-4D77-87E1-CB74BDA7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71950"/>
            <a:ext cx="918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ctivity-num-3">
            <a:extLst xmlns:a="http://schemas.openxmlformats.org/drawingml/2006/main">
              <a:ext uri="{FF2B5EF4-FFF2-40B4-BE49-F238E27FC236}">
                <a16:creationId xmlns:a16="http://schemas.microsoft.com/office/drawing/2014/main" id="{5AEA17BC-BA89-481B-8A3B-5DC7158D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339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17" name="activity-label-3">
            <a:extLst xmlns:a="http://schemas.openxmlformats.org/drawingml/2006/main">
              <a:ext uri="{FF2B5EF4-FFF2-40B4-BE49-F238E27FC236}">
                <a16:creationId xmlns:a16="http://schemas.microsoft.com/office/drawing/2014/main" id="{57273A7B-A117-44DD-ADCD-E0ED9086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95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Resultado</a:t>
            </a:r>
          </a:p>
        </p:txBody>
      </p:sp>
      <p:sp>
        <p:nvSpPr>
          <p:cNvPr id="18" name="activity-copy-3">
            <a:extLst xmlns:a="http://schemas.openxmlformats.org/drawingml/2006/main">
              <a:ext uri="{FF2B5EF4-FFF2-40B4-BE49-F238E27FC236}">
                <a16:creationId xmlns:a16="http://schemas.microsoft.com/office/drawing/2014/main" id="{E9632215-7A01-4028-97C8-ECEA408B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148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17324D"/>
                </a:solidFill>
                <a:latin typeface="Nimbus Sans"/>
                <a:ea typeface="Nimbus Sans"/>
                <a:cs typeface="Nimbus Sans"/>
              </a:rPr>
              <a:t>¿Qué debería quedar listo al terminar?</a:t>
            </a:r>
          </a:p>
        </p:txBody>
      </p:sp>
      <p:sp>
        <p:nvSpPr>
          <p:cNvPr id="19" name="activity-line-3">
            <a:extLst xmlns:a="http://schemas.openxmlformats.org/drawingml/2006/main">
              <a:ext uri="{FF2B5EF4-FFF2-40B4-BE49-F238E27FC236}">
                <a16:creationId xmlns:a16="http://schemas.microsoft.com/office/drawing/2014/main" id="{745A76DD-4333-4B5D-A109-63EBBC69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953000"/>
            <a:ext cx="9182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ctivity-callout">
            <a:extLst xmlns:a="http://schemas.openxmlformats.org/drawingml/2006/main">
              <a:ext uri="{FF2B5EF4-FFF2-40B4-BE49-F238E27FC236}">
                <a16:creationId xmlns:a16="http://schemas.microsoft.com/office/drawing/2014/main" id="{F629DA6B-57BD-47A7-A481-2D6E862C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295900"/>
            <a:ext cx="3409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ctivity-callout-copy">
            <a:extLst xmlns:a="http://schemas.openxmlformats.org/drawingml/2006/main">
              <a:ext uri="{FF2B5EF4-FFF2-40B4-BE49-F238E27FC236}">
                <a16:creationId xmlns:a16="http://schemas.microsoft.com/office/drawing/2014/main" id="{CB9BB00F-CB50-4FE1-844D-71F0B2E7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4673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Después, cambia el Paso 1 a En curso.</a:t>
            </a:r>
          </a:p>
        </p:txBody>
      </p:sp>
      <p:sp>
        <p:nvSpPr>
          <p:cNvPr id="22" name="brand-7">
            <a:extLst xmlns:a="http://schemas.openxmlformats.org/drawingml/2006/main">
              <a:ext uri="{FF2B5EF4-FFF2-40B4-BE49-F238E27FC236}">
                <a16:creationId xmlns:a16="http://schemas.microsoft.com/office/drawing/2014/main" id="{8D79BFF9-C493-427D-AF9B-C07BC3A1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003366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  <p:sp>
        <p:nvSpPr>
          <p:cNvPr id="23" name="page-7">
            <a:extLst xmlns:a="http://schemas.openxmlformats.org/drawingml/2006/main">
              <a:ext uri="{FF2B5EF4-FFF2-40B4-BE49-F238E27FC236}">
                <a16:creationId xmlns:a16="http://schemas.microsoft.com/office/drawing/2014/main" id="{E9EBA30A-3528-4644-A106-663A1EED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6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def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526B7F"/>
                </a:solidFill>
                <a:latin typeface="Nimbus Sans"/>
                <a:ea typeface="Nimbus Sans"/>
                <a:cs typeface="Nimbus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420646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336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DD2284B5-27C8-4633-9F45-F3170DE3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049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19A7CE"/>
                </a:solidFill>
                <a:latin typeface="Nimbus Sans"/>
                <a:ea typeface="Nimbus Sans"/>
                <a:cs typeface="Nimbus Sans"/>
              </a:rPr>
              <a:t>SIGUIENTE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C84EEFCA-5D77-4829-A67C-C6F923EA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7810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Paso 1</a:t>
            </a:r>
          </a:p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Diagnóstico y priorización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2F924283-D2E4-4F4E-AE27-56E2C0B8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1428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copy">
            <a:extLst xmlns:a="http://schemas.openxmlformats.org/drawingml/2006/main">
              <a:ext uri="{FF2B5EF4-FFF2-40B4-BE49-F238E27FC236}">
                <a16:creationId xmlns:a16="http://schemas.microsoft.com/office/drawing/2014/main" id="{405FFF81-0E78-4150-AD18-06636E45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 i="0">
                <a:solidFill>
                  <a:srgbClr val="EAF4F8"/>
                </a:solidFill>
                <a:latin typeface="Nimbus Sans"/>
                <a:ea typeface="Nimbus Sans"/>
                <a:cs typeface="Nimbus Sans"/>
              </a:rPr>
              <a:t>Elegirás qué proceso vale la pena mejorar primero.</a:t>
            </a:r>
          </a:p>
        </p:txBody>
      </p:sp>
      <p:sp>
        <p:nvSpPr>
          <p:cNvPr id="5" name="close-circle">
            <a:extLst xmlns:a="http://schemas.openxmlformats.org/drawingml/2006/main">
              <a:ext uri="{FF2B5EF4-FFF2-40B4-BE49-F238E27FC236}">
                <a16:creationId xmlns:a16="http://schemas.microsoft.com/office/drawing/2014/main" id="{C95F017E-A0CC-45C0-8609-7C2885C2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62150"/>
            <a:ext cx="1466850" cy="1466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A7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number">
            <a:extLst xmlns:a="http://schemas.openxmlformats.org/drawingml/2006/main">
              <a:ext uri="{FF2B5EF4-FFF2-40B4-BE49-F238E27FC236}">
                <a16:creationId xmlns:a16="http://schemas.microsoft.com/office/drawing/2014/main" id="{7E2743A0-F86D-4154-8775-5063B236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66950"/>
            <a:ext cx="1466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7" name="close-brand">
            <a:extLst xmlns:a="http://schemas.openxmlformats.org/drawingml/2006/main">
              <a:ext uri="{FF2B5EF4-FFF2-40B4-BE49-F238E27FC236}">
                <a16:creationId xmlns:a16="http://schemas.microsoft.com/office/drawing/2014/main" id="{9F5C281E-08A4-4124-B61D-5A72334D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0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def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LANGUAGE CENTER CHILE</a:t>
            </a:r>
          </a:p>
        </p:txBody>
      </p:sp>
    </p:spTree>
    <p:extLst>
      <p:ext uri="{BB962C8B-B14F-4D97-AF65-F5344CB8AC3E}">
        <p14:creationId xmlns:p14="http://schemas.microsoft.com/office/powerpoint/2010/main" val="7912769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2026-10-26T04:10:39.9150000Z</dcterms:created>
  <dcterms:modified xsi:type="dcterms:W3CDTF">2026-10-26T04:10:39.9160000Z</dcterms:modified>
</coreProperties>
</file>